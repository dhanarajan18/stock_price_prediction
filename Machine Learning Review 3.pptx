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6858000" cy="9144000"/>
  <p:embeddedFontLst>
    <p:embeddedFont>
      <p:font typeface="Helvetica Neue"/>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hytD/YC6PbM6GDlepmtj5jy27+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E1A32A-0142-40E5-9C2E-2772D38DF000}">
  <a:tblStyle styleId="{D5E1A32A-0142-40E5-9C2E-2772D38DF000}" styleName="Table_0">
    <a:wholeTbl>
      <a:tcTxStyle b="off" i="off">
        <a:font>
          <a:latin typeface="Calibri"/>
          <a:ea typeface="Calibri"/>
          <a:cs typeface="Calibri"/>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5">
              <a:alpha val="20000"/>
            </a:schemeClr>
          </a:solidFill>
        </a:fill>
      </a:tcStyle>
    </a:band1H>
    <a:band2H>
      <a:tcTxStyle b="off" i="off"/>
    </a:band2H>
    <a:band1V>
      <a:tcTxStyle b="off" i="off"/>
      <a:tcStyle>
        <a:fill>
          <a:solidFill>
            <a:schemeClr val="accent5">
              <a:alpha val="20000"/>
            </a:schemeClr>
          </a:solidFill>
        </a:fill>
      </a:tcStyle>
    </a:band1V>
    <a:band2V>
      <a:tcTxStyle b="off" i="off"/>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25400">
              <a:solidFill>
                <a:schemeClr val="accent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BD622D30-8837-4E6F-AFCE-A4D43F029BA6}"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HelveticaNeue-regular.fntdata"/><Relationship Id="rId25" Type="http://schemas.openxmlformats.org/officeDocument/2006/relationships/slide" Target="slides/slide19.xml"/><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elveticaNeue-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f9fc3e4f7f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f9fc3e4f7f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2f9fc3e4f7f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f9fc3e4f7f_1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f9fc3e4f7f_1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2f9fc3e4f7f_1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1792288" y="612775"/>
            <a:ext cx="5486400" cy="4114800"/>
          </a:xfrm>
          <a:prstGeom prst="rect">
            <a:avLst/>
          </a:prstGeom>
          <a:noFill/>
          <a:ln>
            <a:noFill/>
          </a:ln>
        </p:spPr>
      </p:sp>
      <p:sp>
        <p:nvSpPr>
          <p:cNvPr id="68" name="Google Shape;68;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ieeexplore.ieee.org/xpl/conhome/10584831/proceeding" TargetMode="External"/><Relationship Id="rId4" Type="http://schemas.openxmlformats.org/officeDocument/2006/relationships/hyperlink" Target="https://ieeexplore.ieee.org/xpl/conhome/10584831/proceeding" TargetMode="External"/><Relationship Id="rId5" Type="http://schemas.openxmlformats.org/officeDocument/2006/relationships/hyperlink" Target="https://ieeexplore.ieee.org/xpl/conhome/10584831/proceeding" TargetMode="External"/><Relationship Id="rId6" Type="http://schemas.openxmlformats.org/officeDocument/2006/relationships/hyperlink" Target="https://ieeexplore.ieee.org/xpl/RecentIssue.jsp?punumber=628763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2514600" y="469900"/>
            <a:ext cx="6248400" cy="1330326"/>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Font typeface="Times New Roman"/>
              <a:buNone/>
            </a:pPr>
            <a:r>
              <a:rPr b="1" lang="en-US" sz="1800">
                <a:latin typeface="Times New Roman"/>
                <a:ea typeface="Times New Roman"/>
                <a:cs typeface="Times New Roman"/>
                <a:sym typeface="Times New Roman"/>
              </a:rPr>
              <a:t>SRM INSTITUTE OF SCIENCE AND TECHNOLOGY</a:t>
            </a:r>
            <a:br>
              <a:rPr b="1" lang="en-US" sz="1800">
                <a:latin typeface="Times New Roman"/>
                <a:ea typeface="Times New Roman"/>
                <a:cs typeface="Times New Roman"/>
                <a:sym typeface="Times New Roman"/>
              </a:rPr>
            </a:br>
            <a:r>
              <a:rPr b="1" lang="en-US" sz="1800">
                <a:latin typeface="Times New Roman"/>
                <a:ea typeface="Times New Roman"/>
                <a:cs typeface="Times New Roman"/>
                <a:sym typeface="Times New Roman"/>
              </a:rPr>
              <a:t>Ramapuram, Chennai – 600 089</a:t>
            </a:r>
            <a:br>
              <a:rPr b="1" lang="en-US" sz="1800">
                <a:latin typeface="Times New Roman"/>
                <a:ea typeface="Times New Roman"/>
                <a:cs typeface="Times New Roman"/>
                <a:sym typeface="Times New Roman"/>
              </a:rPr>
            </a:br>
            <a:r>
              <a:rPr b="1" lang="en-US" sz="1600">
                <a:latin typeface="Times New Roman"/>
                <a:ea typeface="Times New Roman"/>
                <a:cs typeface="Times New Roman"/>
                <a:sym typeface="Times New Roman"/>
              </a:rPr>
              <a:t>DEPARTMENT OF COMPUTER SCIENCE AND ENGINEERING</a:t>
            </a:r>
            <a:endParaRPr sz="1800"/>
          </a:p>
        </p:txBody>
      </p:sp>
      <p:sp>
        <p:nvSpPr>
          <p:cNvPr id="89" name="Google Shape;89;p1"/>
          <p:cNvSpPr txBox="1"/>
          <p:nvPr>
            <p:ph idx="1" type="subTitle"/>
          </p:nvPr>
        </p:nvSpPr>
        <p:spPr>
          <a:xfrm>
            <a:off x="533400" y="2133599"/>
            <a:ext cx="8153400" cy="1142999"/>
          </a:xfrm>
          <a:prstGeom prst="rect">
            <a:avLst/>
          </a:prstGeom>
          <a:noFill/>
          <a:ln>
            <a:noFill/>
          </a:ln>
        </p:spPr>
        <p:txBody>
          <a:bodyPr anchorCtr="0" anchor="t" bIns="45700" lIns="91425" spcFirstLastPara="1" rIns="91425" wrap="square" tIns="45700">
            <a:noAutofit/>
          </a:bodyPr>
          <a:lstStyle/>
          <a:p>
            <a:pPr indent="0" lvl="0" marL="270510" rtl="0" algn="ctr">
              <a:lnSpc>
                <a:spcPct val="100000"/>
              </a:lnSpc>
              <a:spcBef>
                <a:spcPts val="0"/>
              </a:spcBef>
              <a:spcAft>
                <a:spcPts val="0"/>
              </a:spcAft>
              <a:buClr>
                <a:schemeClr val="dk1"/>
              </a:buClr>
              <a:buSzPts val="3200"/>
              <a:buNone/>
            </a:pPr>
            <a:r>
              <a:rPr b="1" lang="en-US">
                <a:solidFill>
                  <a:schemeClr val="dk1"/>
                </a:solidFill>
                <a:latin typeface="Times New Roman"/>
                <a:ea typeface="Times New Roman"/>
                <a:cs typeface="Times New Roman"/>
                <a:sym typeface="Times New Roman"/>
              </a:rPr>
              <a:t>21CSC305P-Machine Learning</a:t>
            </a:r>
            <a:endParaRPr/>
          </a:p>
          <a:p>
            <a:pPr indent="0" lvl="0" marL="270510" rtl="0" algn="ctr">
              <a:lnSpc>
                <a:spcPct val="100000"/>
              </a:lnSpc>
              <a:spcBef>
                <a:spcPts val="400"/>
              </a:spcBef>
              <a:spcAft>
                <a:spcPts val="0"/>
              </a:spcAft>
              <a:buClr>
                <a:schemeClr val="dk1"/>
              </a:buClr>
              <a:buSzPts val="3200"/>
              <a:buNone/>
            </a:pPr>
            <a:r>
              <a:rPr b="1" lang="en-US">
                <a:solidFill>
                  <a:schemeClr val="dk1"/>
                </a:solidFill>
                <a:latin typeface="Times New Roman"/>
                <a:ea typeface="Times New Roman"/>
                <a:cs typeface="Times New Roman"/>
                <a:sym typeface="Times New Roman"/>
              </a:rPr>
              <a:t>STOCK MARKET PREDICTION</a:t>
            </a:r>
            <a:endParaRPr/>
          </a:p>
          <a:p>
            <a:pPr indent="0" lvl="0" marL="0" rtl="0" algn="ctr">
              <a:lnSpc>
                <a:spcPct val="100000"/>
              </a:lnSpc>
              <a:spcBef>
                <a:spcPts val="840"/>
              </a:spcBef>
              <a:spcAft>
                <a:spcPts val="0"/>
              </a:spcAft>
              <a:buClr>
                <a:srgbClr val="888888"/>
              </a:buClr>
              <a:buSzPts val="3200"/>
              <a:buNone/>
            </a:pPr>
            <a:r>
              <a:t/>
            </a:r>
            <a:endParaRPr>
              <a:solidFill>
                <a:schemeClr val="dk1"/>
              </a:solidFill>
            </a:endParaRPr>
          </a:p>
        </p:txBody>
      </p:sp>
      <p:pic>
        <p:nvPicPr>
          <p:cNvPr id="90" name="Google Shape;90;p1"/>
          <p:cNvPicPr preferRelativeResize="0"/>
          <p:nvPr/>
        </p:nvPicPr>
        <p:blipFill rotWithShape="1">
          <a:blip r:embed="rId3">
            <a:alphaModFix/>
          </a:blip>
          <a:srcRect b="0" l="0" r="0" t="0"/>
          <a:stretch/>
        </p:blipFill>
        <p:spPr>
          <a:xfrm>
            <a:off x="-3048" y="609600"/>
            <a:ext cx="2695575" cy="1190625"/>
          </a:xfrm>
          <a:prstGeom prst="rect">
            <a:avLst/>
          </a:prstGeom>
          <a:noFill/>
          <a:ln>
            <a:noFill/>
          </a:ln>
        </p:spPr>
      </p:pic>
      <p:sp>
        <p:nvSpPr>
          <p:cNvPr id="91" name="Google Shape;91;p1"/>
          <p:cNvSpPr txBox="1"/>
          <p:nvPr/>
        </p:nvSpPr>
        <p:spPr>
          <a:xfrm>
            <a:off x="-228600" y="3308191"/>
            <a:ext cx="5054727" cy="838200"/>
          </a:xfrm>
          <a:prstGeom prst="rect">
            <a:avLst/>
          </a:prstGeom>
          <a:noFill/>
          <a:ln>
            <a:noFill/>
          </a:ln>
        </p:spPr>
        <p:txBody>
          <a:bodyPr anchorCtr="0" anchor="t" bIns="45700" lIns="91425" spcFirstLastPara="1" rIns="91425" wrap="square" tIns="45700">
            <a:noAutofit/>
          </a:bodyPr>
          <a:lstStyle/>
          <a:p>
            <a:pPr indent="0" lvl="0" marL="27051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BATCH NUMBER : 14</a:t>
            </a:r>
            <a:endParaRPr b="0" i="0" sz="1400" u="none" cap="none" strike="noStrike">
              <a:solidFill>
                <a:srgbClr val="000000"/>
              </a:solidFill>
              <a:latin typeface="Arial"/>
              <a:ea typeface="Arial"/>
              <a:cs typeface="Arial"/>
              <a:sym typeface="Arial"/>
            </a:endParaRPr>
          </a:p>
        </p:txBody>
      </p:sp>
      <p:graphicFrame>
        <p:nvGraphicFramePr>
          <p:cNvPr id="92" name="Google Shape;92;p1"/>
          <p:cNvGraphicFramePr/>
          <p:nvPr/>
        </p:nvGraphicFramePr>
        <p:xfrm>
          <a:off x="304800" y="4114800"/>
          <a:ext cx="3000000" cy="3000000"/>
        </p:xfrm>
        <a:graphic>
          <a:graphicData uri="http://schemas.openxmlformats.org/drawingml/2006/table">
            <a:tbl>
              <a:tblPr bandRow="1" firstRow="1">
                <a:noFill/>
                <a:tableStyleId>{D5E1A32A-0142-40E5-9C2E-2772D38DF000}</a:tableStyleId>
              </a:tblPr>
              <a:tblGrid>
                <a:gridCol w="5071125"/>
                <a:gridCol w="3234675"/>
              </a:tblGrid>
              <a:tr h="3837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Team Members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Supervisor</a:t>
                      </a:r>
                      <a:endParaRPr sz="1400" u="none" cap="none" strike="noStrike"/>
                    </a:p>
                  </a:txBody>
                  <a:tcPr marT="45725" marB="45725" marR="91450" marL="91450"/>
                </a:tc>
              </a:tr>
              <a:tr h="1749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GOKULPRIYAN KARTHIKEYAN-[RA2211003020327]</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DHARANI PAJANI-[RA2211003020340]</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KISHORE P-[RA2211003020344]</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DHANARAJAN K-[RA2211003020347]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NAME: </a:t>
                      </a:r>
                      <a:r>
                        <a:rPr lang="en-US" sz="1800"/>
                        <a:t>Ms. HARINI B,</a:t>
                      </a:r>
                      <a:endParaRPr sz="1800"/>
                    </a:p>
                    <a:p>
                      <a:pPr indent="0" lvl="0" marL="0" marR="0" rtl="0" algn="l">
                        <a:lnSpc>
                          <a:spcPct val="100000"/>
                        </a:lnSpc>
                        <a:spcBef>
                          <a:spcPts val="0"/>
                        </a:spcBef>
                        <a:spcAft>
                          <a:spcPts val="0"/>
                        </a:spcAft>
                        <a:buClr>
                          <a:schemeClr val="dk1"/>
                        </a:buClr>
                        <a:buSzPts val="1800"/>
                        <a:buFont typeface="Calibri"/>
                        <a:buNone/>
                      </a:pPr>
                      <a:r>
                        <a:rPr lang="en-US" sz="1800"/>
                        <a:t>              Assistant Professor</a:t>
                      </a:r>
                      <a:endParaRPr sz="1400" u="none" cap="none" strike="noStrike"/>
                    </a:p>
                  </a:txBody>
                  <a:tcPr marT="45725" marB="45725" marR="91450" marL="9145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Agenda</a:t>
            </a:r>
            <a:endParaRPr/>
          </a:p>
        </p:txBody>
      </p:sp>
      <p:sp>
        <p:nvSpPr>
          <p:cNvPr id="98" name="Google Shape;98;p2"/>
          <p:cNvSpPr txBox="1"/>
          <p:nvPr>
            <p:ph idx="1" type="body"/>
          </p:nvPr>
        </p:nvSpPr>
        <p:spPr>
          <a:xfrm>
            <a:off x="457200" y="1417650"/>
            <a:ext cx="8229600" cy="4526100"/>
          </a:xfrm>
          <a:prstGeom prst="rect">
            <a:avLst/>
          </a:prstGeom>
          <a:noFill/>
          <a:ln>
            <a:noFill/>
          </a:ln>
        </p:spPr>
        <p:txBody>
          <a:bodyPr anchorCtr="0" anchor="t" bIns="45700" lIns="91425" spcFirstLastPara="1" rIns="91425" wrap="square" tIns="45700">
            <a:noAutofit/>
          </a:bodyPr>
          <a:lstStyle/>
          <a:p>
            <a:pPr indent="-361950" lvl="0" marL="342900" rtl="0" algn="l">
              <a:lnSpc>
                <a:spcPct val="80000"/>
              </a:lnSpc>
              <a:spcBef>
                <a:spcPts val="0"/>
              </a:spcBef>
              <a:spcAft>
                <a:spcPts val="0"/>
              </a:spcAft>
              <a:buClr>
                <a:srgbClr val="000000"/>
              </a:buClr>
              <a:buSzPts val="1425"/>
              <a:buFont typeface="Arial"/>
              <a:buChar char="•"/>
            </a:pPr>
            <a:r>
              <a:rPr b="0" i="0" lang="en-US" sz="1425" u="none" strike="noStrike">
                <a:solidFill>
                  <a:srgbClr val="000000"/>
                </a:solidFill>
                <a:latin typeface="Calibri"/>
                <a:ea typeface="Calibri"/>
                <a:cs typeface="Calibri"/>
                <a:sym typeface="Calibri"/>
              </a:rPr>
              <a:t>Abstract</a:t>
            </a:r>
            <a:endParaRPr b="0" i="0" sz="1425" u="none" strike="noStrike">
              <a:solidFill>
                <a:srgbClr val="000000"/>
              </a:solidFill>
              <a:latin typeface="Arial"/>
              <a:ea typeface="Arial"/>
              <a:cs typeface="Arial"/>
              <a:sym typeface="Arial"/>
            </a:endParaRPr>
          </a:p>
          <a:p>
            <a:pPr indent="-361950" lvl="0" marL="342900" rtl="0" algn="l">
              <a:lnSpc>
                <a:spcPct val="80000"/>
              </a:lnSpc>
              <a:spcBef>
                <a:spcPts val="1000"/>
              </a:spcBef>
              <a:spcAft>
                <a:spcPts val="0"/>
              </a:spcAft>
              <a:buClr>
                <a:srgbClr val="000000"/>
              </a:buClr>
              <a:buSzPts val="1425"/>
              <a:buFont typeface="Arial"/>
              <a:buChar char="•"/>
            </a:pPr>
            <a:r>
              <a:rPr b="0" i="0" lang="en-US" sz="1425" u="none" strike="noStrike">
                <a:solidFill>
                  <a:srgbClr val="000000"/>
                </a:solidFill>
                <a:latin typeface="Calibri"/>
                <a:ea typeface="Calibri"/>
                <a:cs typeface="Calibri"/>
                <a:sym typeface="Calibri"/>
              </a:rPr>
              <a:t>Scope and Motivation</a:t>
            </a:r>
            <a:endParaRPr b="0" i="0" sz="1425" u="none" strike="noStrike">
              <a:solidFill>
                <a:srgbClr val="000000"/>
              </a:solidFill>
              <a:latin typeface="Arial"/>
              <a:ea typeface="Arial"/>
              <a:cs typeface="Arial"/>
              <a:sym typeface="Arial"/>
            </a:endParaRPr>
          </a:p>
          <a:p>
            <a:pPr indent="-361950" lvl="0" marL="342900" rtl="0" algn="l">
              <a:lnSpc>
                <a:spcPct val="80000"/>
              </a:lnSpc>
              <a:spcBef>
                <a:spcPts val="1000"/>
              </a:spcBef>
              <a:spcAft>
                <a:spcPts val="0"/>
              </a:spcAft>
              <a:buClr>
                <a:srgbClr val="000000"/>
              </a:buClr>
              <a:buSzPts val="1425"/>
              <a:buFont typeface="Arial"/>
              <a:buChar char="•"/>
            </a:pPr>
            <a:r>
              <a:rPr lang="en-US" sz="1425">
                <a:solidFill>
                  <a:srgbClr val="000000"/>
                </a:solidFill>
                <a:latin typeface="Calibri"/>
                <a:ea typeface="Calibri"/>
                <a:cs typeface="Calibri"/>
                <a:sym typeface="Calibri"/>
              </a:rPr>
              <a:t>Introduction</a:t>
            </a:r>
            <a:endParaRPr sz="2300"/>
          </a:p>
          <a:p>
            <a:pPr indent="-361950" lvl="0" marL="342900" rtl="0" algn="l">
              <a:lnSpc>
                <a:spcPct val="80000"/>
              </a:lnSpc>
              <a:spcBef>
                <a:spcPts val="1000"/>
              </a:spcBef>
              <a:spcAft>
                <a:spcPts val="0"/>
              </a:spcAft>
              <a:buClr>
                <a:srgbClr val="000000"/>
              </a:buClr>
              <a:buSzPts val="1425"/>
              <a:buFont typeface="Arial"/>
              <a:buChar char="•"/>
            </a:pPr>
            <a:r>
              <a:rPr b="0" i="0" lang="en-US" sz="1425" u="none" strike="noStrike">
                <a:solidFill>
                  <a:srgbClr val="000000"/>
                </a:solidFill>
                <a:latin typeface="Calibri"/>
                <a:ea typeface="Calibri"/>
                <a:cs typeface="Calibri"/>
                <a:sym typeface="Calibri"/>
              </a:rPr>
              <a:t>Literature Survey ( Table)</a:t>
            </a:r>
            <a:endParaRPr sz="2300"/>
          </a:p>
          <a:p>
            <a:pPr indent="-361950" lvl="0" marL="342900" rtl="0" algn="l">
              <a:lnSpc>
                <a:spcPct val="80000"/>
              </a:lnSpc>
              <a:spcBef>
                <a:spcPts val="1000"/>
              </a:spcBef>
              <a:spcAft>
                <a:spcPts val="0"/>
              </a:spcAft>
              <a:buClr>
                <a:srgbClr val="000000"/>
              </a:buClr>
              <a:buSzPts val="1425"/>
              <a:buFont typeface="Arial"/>
              <a:buChar char="•"/>
            </a:pPr>
            <a:r>
              <a:rPr lang="en-US" sz="1425">
                <a:solidFill>
                  <a:srgbClr val="000000"/>
                </a:solidFill>
                <a:latin typeface="Calibri"/>
                <a:ea typeface="Calibri"/>
                <a:cs typeface="Calibri"/>
                <a:sym typeface="Calibri"/>
              </a:rPr>
              <a:t>Objective</a:t>
            </a:r>
            <a:endParaRPr b="0" i="0" sz="1425" u="none" strike="noStrike">
              <a:solidFill>
                <a:srgbClr val="000000"/>
              </a:solidFill>
              <a:latin typeface="Calibri"/>
              <a:ea typeface="Calibri"/>
              <a:cs typeface="Calibri"/>
              <a:sym typeface="Calibri"/>
            </a:endParaRPr>
          </a:p>
          <a:p>
            <a:pPr indent="-361950" lvl="0" marL="342900" rtl="0" algn="l">
              <a:lnSpc>
                <a:spcPct val="80000"/>
              </a:lnSpc>
              <a:spcBef>
                <a:spcPts val="1000"/>
              </a:spcBef>
              <a:spcAft>
                <a:spcPts val="0"/>
              </a:spcAft>
              <a:buClr>
                <a:srgbClr val="000000"/>
              </a:buClr>
              <a:buSzPts val="1425"/>
              <a:buFont typeface="Arial"/>
              <a:buChar char="•"/>
            </a:pPr>
            <a:r>
              <a:rPr lang="en-US" sz="1425">
                <a:solidFill>
                  <a:srgbClr val="000000"/>
                </a:solidFill>
                <a:latin typeface="Calibri"/>
                <a:ea typeface="Calibri"/>
                <a:cs typeface="Calibri"/>
                <a:sym typeface="Calibri"/>
              </a:rPr>
              <a:t>Problem Statement</a:t>
            </a:r>
            <a:endParaRPr sz="2300"/>
          </a:p>
          <a:p>
            <a:pPr indent="-361950" lvl="0" marL="342900" rtl="0" algn="l">
              <a:lnSpc>
                <a:spcPct val="80000"/>
              </a:lnSpc>
              <a:spcBef>
                <a:spcPts val="1000"/>
              </a:spcBef>
              <a:spcAft>
                <a:spcPts val="0"/>
              </a:spcAft>
              <a:buClr>
                <a:srgbClr val="000000"/>
              </a:buClr>
              <a:buSzPts val="1425"/>
              <a:buFont typeface="Arial"/>
              <a:buChar char="•"/>
            </a:pPr>
            <a:r>
              <a:rPr lang="en-US" sz="1425">
                <a:solidFill>
                  <a:srgbClr val="000000"/>
                </a:solidFill>
                <a:latin typeface="Calibri"/>
                <a:ea typeface="Calibri"/>
                <a:cs typeface="Calibri"/>
                <a:sym typeface="Calibri"/>
              </a:rPr>
              <a:t>Proposed Work</a:t>
            </a:r>
            <a:endParaRPr sz="2300"/>
          </a:p>
          <a:p>
            <a:pPr indent="-304800" lvl="1" marL="742950" rtl="0" algn="l">
              <a:lnSpc>
                <a:spcPct val="80000"/>
              </a:lnSpc>
              <a:spcBef>
                <a:spcPts val="1000"/>
              </a:spcBef>
              <a:spcAft>
                <a:spcPts val="0"/>
              </a:spcAft>
              <a:buClr>
                <a:srgbClr val="000000"/>
              </a:buClr>
              <a:buSzPts val="1175"/>
              <a:buFont typeface="Arial"/>
              <a:buChar char="•"/>
            </a:pPr>
            <a:r>
              <a:rPr b="0" i="0" lang="en-US" sz="1175" u="none" strike="noStrike">
                <a:solidFill>
                  <a:srgbClr val="000000"/>
                </a:solidFill>
                <a:latin typeface="Calibri"/>
                <a:ea typeface="Calibri"/>
                <a:cs typeface="Calibri"/>
                <a:sym typeface="Calibri"/>
              </a:rPr>
              <a:t>Architecture Diagram/Flow Diagram/Block Diagram</a:t>
            </a:r>
            <a:endParaRPr sz="2050"/>
          </a:p>
          <a:p>
            <a:pPr indent="-304800" lvl="1" marL="742950" rtl="0" algn="l">
              <a:lnSpc>
                <a:spcPct val="80000"/>
              </a:lnSpc>
              <a:spcBef>
                <a:spcPts val="1000"/>
              </a:spcBef>
              <a:spcAft>
                <a:spcPts val="0"/>
              </a:spcAft>
              <a:buClr>
                <a:srgbClr val="000000"/>
              </a:buClr>
              <a:buSzPts val="1175"/>
              <a:buFont typeface="Arial"/>
              <a:buChar char="•"/>
            </a:pPr>
            <a:r>
              <a:rPr lang="en-US" sz="1175">
                <a:solidFill>
                  <a:srgbClr val="000000"/>
                </a:solidFill>
                <a:latin typeface="Calibri"/>
                <a:ea typeface="Calibri"/>
                <a:cs typeface="Calibri"/>
                <a:sym typeface="Calibri"/>
              </a:rPr>
              <a:t>Novel idea</a:t>
            </a:r>
            <a:endParaRPr sz="2050"/>
          </a:p>
          <a:p>
            <a:pPr indent="-304800" lvl="1" marL="742950" rtl="0" algn="l">
              <a:lnSpc>
                <a:spcPct val="80000"/>
              </a:lnSpc>
              <a:spcBef>
                <a:spcPts val="1000"/>
              </a:spcBef>
              <a:spcAft>
                <a:spcPts val="0"/>
              </a:spcAft>
              <a:buClr>
                <a:srgbClr val="000000"/>
              </a:buClr>
              <a:buSzPts val="1175"/>
              <a:buFont typeface="Arial"/>
              <a:buChar char="•"/>
            </a:pPr>
            <a:r>
              <a:rPr lang="en-US" sz="1175">
                <a:solidFill>
                  <a:srgbClr val="000000"/>
                </a:solidFill>
                <a:latin typeface="Calibri"/>
                <a:ea typeface="Calibri"/>
                <a:cs typeface="Calibri"/>
                <a:sym typeface="Calibri"/>
              </a:rPr>
              <a:t>Modules</a:t>
            </a:r>
            <a:endParaRPr sz="2050"/>
          </a:p>
          <a:p>
            <a:pPr indent="-361950" lvl="1" marL="342900" rtl="0" algn="l">
              <a:lnSpc>
                <a:spcPct val="80000"/>
              </a:lnSpc>
              <a:spcBef>
                <a:spcPts val="1000"/>
              </a:spcBef>
              <a:spcAft>
                <a:spcPts val="0"/>
              </a:spcAft>
              <a:buClr>
                <a:srgbClr val="000000"/>
              </a:buClr>
              <a:buSzPts val="1425"/>
              <a:buFont typeface="Arial"/>
              <a:buChar char="•"/>
            </a:pPr>
            <a:r>
              <a:rPr lang="en-US" sz="1425">
                <a:solidFill>
                  <a:srgbClr val="000000"/>
                </a:solidFill>
                <a:latin typeface="Calibri"/>
                <a:ea typeface="Calibri"/>
                <a:cs typeface="Calibri"/>
                <a:sym typeface="Calibri"/>
              </a:rPr>
              <a:t>Module Description</a:t>
            </a:r>
            <a:endParaRPr sz="1175">
              <a:solidFill>
                <a:srgbClr val="000000"/>
              </a:solidFill>
              <a:latin typeface="Calibri"/>
              <a:ea typeface="Calibri"/>
              <a:cs typeface="Calibri"/>
              <a:sym typeface="Calibri"/>
            </a:endParaRPr>
          </a:p>
          <a:p>
            <a:pPr indent="-361950" lvl="0" marL="342900" rtl="0" algn="l">
              <a:lnSpc>
                <a:spcPct val="80000"/>
              </a:lnSpc>
              <a:spcBef>
                <a:spcPts val="1000"/>
              </a:spcBef>
              <a:spcAft>
                <a:spcPts val="0"/>
              </a:spcAft>
              <a:buClr>
                <a:srgbClr val="000000"/>
              </a:buClr>
              <a:buSzPts val="1425"/>
              <a:buFont typeface="Arial"/>
              <a:buChar char="•"/>
            </a:pPr>
            <a:r>
              <a:rPr b="0" i="0" lang="en-US" sz="1425" u="none" strike="noStrike">
                <a:solidFill>
                  <a:srgbClr val="000000"/>
                </a:solidFill>
                <a:latin typeface="Calibri"/>
                <a:ea typeface="Calibri"/>
                <a:cs typeface="Calibri"/>
                <a:sym typeface="Calibri"/>
              </a:rPr>
              <a:t>Software &amp; Hardware Requirements</a:t>
            </a:r>
            <a:endParaRPr sz="2300"/>
          </a:p>
          <a:p>
            <a:pPr indent="-361950" lvl="0" marL="342900" rtl="0" algn="l">
              <a:lnSpc>
                <a:spcPct val="80000"/>
              </a:lnSpc>
              <a:spcBef>
                <a:spcPts val="1000"/>
              </a:spcBef>
              <a:spcAft>
                <a:spcPts val="0"/>
              </a:spcAft>
              <a:buClr>
                <a:srgbClr val="000000"/>
              </a:buClr>
              <a:buSzPts val="1425"/>
              <a:buFont typeface="Arial"/>
              <a:buChar char="•"/>
            </a:pPr>
            <a:r>
              <a:rPr b="0" i="0" lang="en-US" sz="1425" u="none" strike="noStrike">
                <a:solidFill>
                  <a:srgbClr val="000000"/>
                </a:solidFill>
                <a:latin typeface="Calibri"/>
                <a:ea typeface="Calibri"/>
                <a:cs typeface="Calibri"/>
                <a:sym typeface="Calibri"/>
              </a:rPr>
              <a:t>Module 1 Implementation (Demo to be shown)</a:t>
            </a:r>
            <a:endParaRPr sz="2300"/>
          </a:p>
          <a:p>
            <a:pPr indent="-361950" lvl="0" marL="342900" rtl="0" algn="l">
              <a:lnSpc>
                <a:spcPct val="80000"/>
              </a:lnSpc>
              <a:spcBef>
                <a:spcPts val="1000"/>
              </a:spcBef>
              <a:spcAft>
                <a:spcPts val="0"/>
              </a:spcAft>
              <a:buClr>
                <a:srgbClr val="000000"/>
              </a:buClr>
              <a:buSzPts val="1425"/>
              <a:buChar char="•"/>
            </a:pPr>
            <a:r>
              <a:rPr lang="en-US" sz="1425">
                <a:solidFill>
                  <a:srgbClr val="000000"/>
                </a:solidFill>
                <a:latin typeface="Calibri"/>
                <a:ea typeface="Calibri"/>
                <a:cs typeface="Calibri"/>
                <a:sym typeface="Calibri"/>
              </a:rPr>
              <a:t>Module 1 </a:t>
            </a:r>
            <a:r>
              <a:rPr b="0" i="0" lang="en-US" sz="1425" u="none" strike="noStrike">
                <a:solidFill>
                  <a:srgbClr val="000000"/>
                </a:solidFill>
                <a:latin typeface="Calibri"/>
                <a:ea typeface="Calibri"/>
                <a:cs typeface="Calibri"/>
                <a:sym typeface="Calibri"/>
              </a:rPr>
              <a:t>Results </a:t>
            </a:r>
            <a:endParaRPr sz="2300"/>
          </a:p>
          <a:p>
            <a:pPr indent="-361950" lvl="0" marL="342900" rtl="0" algn="l">
              <a:lnSpc>
                <a:spcPct val="80000"/>
              </a:lnSpc>
              <a:spcBef>
                <a:spcPts val="1000"/>
              </a:spcBef>
              <a:spcAft>
                <a:spcPts val="0"/>
              </a:spcAft>
              <a:buClr>
                <a:srgbClr val="000000"/>
              </a:buClr>
              <a:buSzPts val="1425"/>
              <a:buChar char="•"/>
            </a:pPr>
            <a:r>
              <a:rPr b="0" i="0" lang="en-US" sz="1425" u="none" strike="noStrike">
                <a:solidFill>
                  <a:srgbClr val="000000"/>
                </a:solidFill>
                <a:latin typeface="Calibri"/>
                <a:ea typeface="Calibri"/>
                <a:cs typeface="Calibri"/>
                <a:sym typeface="Calibri"/>
              </a:rPr>
              <a:t>References</a:t>
            </a:r>
            <a:endParaRPr sz="2300"/>
          </a:p>
          <a:p>
            <a:pPr indent="-361950" lvl="0" marL="342900" rtl="0" algn="l">
              <a:lnSpc>
                <a:spcPct val="80000"/>
              </a:lnSpc>
              <a:spcBef>
                <a:spcPts val="1000"/>
              </a:spcBef>
              <a:spcAft>
                <a:spcPts val="0"/>
              </a:spcAft>
              <a:buClr>
                <a:srgbClr val="000000"/>
              </a:buClr>
              <a:buSzPts val="1425"/>
              <a:buFont typeface="Arial"/>
              <a:buChar char="•"/>
            </a:pPr>
            <a:r>
              <a:rPr lang="en-US" sz="1425">
                <a:solidFill>
                  <a:srgbClr val="000000"/>
                </a:solidFill>
                <a:latin typeface="Calibri"/>
                <a:ea typeface="Calibri"/>
                <a:cs typeface="Calibri"/>
                <a:sym typeface="Calibri"/>
              </a:rPr>
              <a:t>Way forward towards Outcome (Research Paper/Patent)</a:t>
            </a:r>
            <a:endParaRPr sz="2300"/>
          </a:p>
          <a:p>
            <a:pPr indent="-304800" lvl="1" marL="742950" rtl="0" algn="l">
              <a:lnSpc>
                <a:spcPct val="80000"/>
              </a:lnSpc>
              <a:spcBef>
                <a:spcPts val="1000"/>
              </a:spcBef>
              <a:spcAft>
                <a:spcPts val="0"/>
              </a:spcAft>
              <a:buClr>
                <a:srgbClr val="000000"/>
              </a:buClr>
              <a:buSzPts val="1175"/>
              <a:buFont typeface="Arial"/>
              <a:buChar char="•"/>
            </a:pPr>
            <a:r>
              <a:rPr b="0" i="0" lang="en-US" sz="1175" u="none" strike="noStrike">
                <a:solidFill>
                  <a:srgbClr val="000000"/>
                </a:solidFill>
                <a:latin typeface="Calibri"/>
                <a:ea typeface="Calibri"/>
                <a:cs typeface="Calibri"/>
                <a:sym typeface="Calibri"/>
              </a:rPr>
              <a:t>Status of Paper Submission/ Patent Filing</a:t>
            </a:r>
            <a:endParaRPr b="0" i="0" sz="1175" u="none" strike="noStrike">
              <a:solidFill>
                <a:srgbClr val="000000"/>
              </a:solidFill>
              <a:latin typeface="Arial"/>
              <a:ea typeface="Arial"/>
              <a:cs typeface="Arial"/>
              <a:sym typeface="Arial"/>
            </a:endParaRPr>
          </a:p>
          <a:p>
            <a:pPr indent="-215900" lvl="0" marL="342900" rtl="0" algn="l">
              <a:lnSpc>
                <a:spcPct val="80000"/>
              </a:lnSpc>
              <a:spcBef>
                <a:spcPts val="400"/>
              </a:spcBef>
              <a:spcAft>
                <a:spcPts val="0"/>
              </a:spcAft>
              <a:buClr>
                <a:schemeClr val="dk1"/>
              </a:buClr>
              <a:buSzPts val="2000"/>
              <a:buNone/>
            </a:pPr>
            <a:r>
              <a:t/>
            </a:r>
            <a:endParaRPr sz="2200"/>
          </a:p>
        </p:txBody>
      </p:sp>
      <p:sp>
        <p:nvSpPr>
          <p:cNvPr id="99" name="Google Shape;99;p2"/>
          <p:cNvSpPr txBox="1"/>
          <p:nvPr>
            <p:ph idx="11" type="ftr"/>
          </p:nvPr>
        </p:nvSpPr>
        <p:spPr>
          <a:xfrm>
            <a:off x="457200" y="6356350"/>
            <a:ext cx="8229600" cy="4254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ABSTRACT</a:t>
            </a:r>
            <a:endParaRPr/>
          </a:p>
        </p:txBody>
      </p:sp>
      <p:sp>
        <p:nvSpPr>
          <p:cNvPr id="105" name="Google Shape;105;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None/>
            </a:pPr>
            <a:r>
              <a:rPr lang="en-US" sz="2000"/>
              <a:t>	The stock market is a complex, dynamic system influenced by various factors, including economic indicators, market sentiment, and global events. Predicting stock prices with high accuracy is a challenging task due to the market's inherent volatility and non-linear nature. This project aims to develop a machine learning-based model to predict stock market trends and prices. By leveraging historical stock data, financial indicators, and sentiment analysis, the model employs advanced machine learning techniques such as time series analysis, neural networks, and ensemble methods. The results demonstrate that while no model can perfectly predict stock prices, machine learning techniques can provide valuable insights and improve decision-making for investors. This project contributes to the growing field of financial technology by highlighting the potential of machine learning.</a:t>
            </a:r>
            <a:endParaRPr/>
          </a:p>
        </p:txBody>
      </p:sp>
      <p:sp>
        <p:nvSpPr>
          <p:cNvPr id="106" name="Google Shape;106;p3"/>
          <p:cNvSpPr txBox="1"/>
          <p:nvPr>
            <p:ph idx="11" type="ftr"/>
          </p:nvPr>
        </p:nvSpPr>
        <p:spPr>
          <a:xfrm>
            <a:off x="457200" y="6356351"/>
            <a:ext cx="8229600" cy="34924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Scope and Motivation</a:t>
            </a:r>
            <a:endParaRPr/>
          </a:p>
        </p:txBody>
      </p:sp>
      <p:sp>
        <p:nvSpPr>
          <p:cNvPr id="112" name="Google Shape;11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dk1"/>
              </a:buClr>
              <a:buSzPts val="2000"/>
              <a:buNone/>
            </a:pPr>
            <a:r>
              <a:rPr lang="en-US" sz="2000"/>
              <a:t>This project focuses on developing a machine learning model to predict stock market trends and prices. The scope includes:</a:t>
            </a:r>
            <a:endParaRPr/>
          </a:p>
          <a:p>
            <a:pPr indent="-342900" lvl="0" marL="342900" rtl="0" algn="just">
              <a:lnSpc>
                <a:spcPct val="100000"/>
              </a:lnSpc>
              <a:spcBef>
                <a:spcPts val="400"/>
              </a:spcBef>
              <a:spcAft>
                <a:spcPts val="0"/>
              </a:spcAft>
              <a:buClr>
                <a:schemeClr val="dk1"/>
              </a:buClr>
              <a:buSzPts val="2000"/>
              <a:buChar char="•"/>
            </a:pPr>
            <a:r>
              <a:rPr lang="en-US" sz="2000"/>
              <a:t>Data Collection and Preprocessing</a:t>
            </a:r>
            <a:endParaRPr/>
          </a:p>
          <a:p>
            <a:pPr indent="-342900" lvl="0" marL="342900" rtl="0" algn="just">
              <a:lnSpc>
                <a:spcPct val="100000"/>
              </a:lnSpc>
              <a:spcBef>
                <a:spcPts val="400"/>
              </a:spcBef>
              <a:spcAft>
                <a:spcPts val="0"/>
              </a:spcAft>
              <a:buClr>
                <a:schemeClr val="dk1"/>
              </a:buClr>
              <a:buSzPts val="2000"/>
              <a:buChar char="•"/>
            </a:pPr>
            <a:r>
              <a:rPr lang="en-US" sz="2000"/>
              <a:t>Feature selection</a:t>
            </a:r>
            <a:endParaRPr/>
          </a:p>
          <a:p>
            <a:pPr indent="-342900" lvl="0" marL="342900" rtl="0" algn="just">
              <a:lnSpc>
                <a:spcPct val="100000"/>
              </a:lnSpc>
              <a:spcBef>
                <a:spcPts val="400"/>
              </a:spcBef>
              <a:spcAft>
                <a:spcPts val="0"/>
              </a:spcAft>
              <a:buClr>
                <a:schemeClr val="dk1"/>
              </a:buClr>
              <a:buSzPts val="2000"/>
              <a:buChar char="•"/>
            </a:pPr>
            <a:r>
              <a:rPr lang="en-US" sz="2000"/>
              <a:t>Model development</a:t>
            </a:r>
            <a:endParaRPr/>
          </a:p>
          <a:p>
            <a:pPr indent="-342900" lvl="0" marL="342900" rtl="0" algn="just">
              <a:lnSpc>
                <a:spcPct val="100000"/>
              </a:lnSpc>
              <a:spcBef>
                <a:spcPts val="400"/>
              </a:spcBef>
              <a:spcAft>
                <a:spcPts val="0"/>
              </a:spcAft>
              <a:buClr>
                <a:schemeClr val="dk1"/>
              </a:buClr>
              <a:buSzPts val="2000"/>
              <a:buChar char="•"/>
            </a:pPr>
            <a:r>
              <a:rPr lang="en-US" sz="2000"/>
              <a:t>Prediction and Analysis</a:t>
            </a:r>
            <a:endParaRPr/>
          </a:p>
          <a:p>
            <a:pPr indent="-342900" lvl="0" marL="342900" rtl="0" algn="just">
              <a:lnSpc>
                <a:spcPct val="100000"/>
              </a:lnSpc>
              <a:spcBef>
                <a:spcPts val="400"/>
              </a:spcBef>
              <a:spcAft>
                <a:spcPts val="0"/>
              </a:spcAft>
              <a:buClr>
                <a:schemeClr val="dk1"/>
              </a:buClr>
              <a:buSzPts val="2000"/>
              <a:buChar char="•"/>
            </a:pPr>
            <a:r>
              <a:rPr lang="en-US" sz="2000"/>
              <a:t>Deployment</a:t>
            </a:r>
            <a:endParaRPr/>
          </a:p>
          <a:p>
            <a:pPr indent="0" lvl="0" marL="0" rtl="0" algn="just">
              <a:lnSpc>
                <a:spcPct val="100000"/>
              </a:lnSpc>
              <a:spcBef>
                <a:spcPts val="400"/>
              </a:spcBef>
              <a:spcAft>
                <a:spcPts val="0"/>
              </a:spcAft>
              <a:buClr>
                <a:schemeClr val="dk1"/>
              </a:buClr>
              <a:buSzPts val="2000"/>
              <a:buNone/>
            </a:pPr>
            <a:r>
              <a:t/>
            </a:r>
            <a:endParaRPr sz="2000"/>
          </a:p>
          <a:p>
            <a:pPr indent="0" lvl="0" marL="0" rtl="0" algn="just">
              <a:lnSpc>
                <a:spcPct val="100000"/>
              </a:lnSpc>
              <a:spcBef>
                <a:spcPts val="400"/>
              </a:spcBef>
              <a:spcAft>
                <a:spcPts val="0"/>
              </a:spcAft>
              <a:buClr>
                <a:schemeClr val="dk1"/>
              </a:buClr>
              <a:buSzPts val="2000"/>
              <a:buNone/>
            </a:pPr>
            <a:r>
              <a:rPr lang="en-US" sz="2000"/>
              <a:t>MOTIVATION:</a:t>
            </a:r>
            <a:endParaRPr/>
          </a:p>
          <a:p>
            <a:pPr indent="0" lvl="0" marL="0" rtl="0" algn="just">
              <a:lnSpc>
                <a:spcPct val="100000"/>
              </a:lnSpc>
              <a:spcBef>
                <a:spcPts val="400"/>
              </a:spcBef>
              <a:spcAft>
                <a:spcPts val="0"/>
              </a:spcAft>
              <a:buClr>
                <a:schemeClr val="dk1"/>
              </a:buClr>
              <a:buSzPts val="2000"/>
              <a:buNone/>
            </a:pPr>
            <a:r>
              <a:rPr lang="en-US" sz="2000"/>
              <a:t>     The motivation behind this project stems from the need for more accurate and reliable tools to predict stock market movements. The stock market's volatility makes it a challenging environment for investors, who often rely on traditional methods, such as technical analysis and financial news, which may not fully capture market dynamics.</a:t>
            </a:r>
            <a:endParaRPr sz="2000"/>
          </a:p>
        </p:txBody>
      </p:sp>
      <p:sp>
        <p:nvSpPr>
          <p:cNvPr id="113" name="Google Shape;113;p4"/>
          <p:cNvSpPr txBox="1"/>
          <p:nvPr>
            <p:ph idx="11" type="ftr"/>
          </p:nvPr>
        </p:nvSpPr>
        <p:spPr>
          <a:xfrm>
            <a:off x="31242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Introduction</a:t>
            </a:r>
            <a:endParaRPr/>
          </a:p>
        </p:txBody>
      </p:sp>
      <p:sp>
        <p:nvSpPr>
          <p:cNvPr id="119" name="Google Shape;119;p5"/>
          <p:cNvSpPr txBox="1"/>
          <p:nvPr>
            <p:ph idx="1" type="body"/>
          </p:nvPr>
        </p:nvSpPr>
        <p:spPr>
          <a:xfrm>
            <a:off x="457200" y="1830375"/>
            <a:ext cx="8229600" cy="4526100"/>
          </a:xfrm>
          <a:prstGeom prst="rect">
            <a:avLst/>
          </a:prstGeom>
          <a:noFill/>
          <a:ln>
            <a:noFill/>
          </a:ln>
        </p:spPr>
        <p:txBody>
          <a:bodyPr anchorCtr="0" anchor="t" bIns="45700" lIns="91425" spcFirstLastPara="1" rIns="91425" wrap="square" tIns="45700">
            <a:normAutofit/>
          </a:bodyPr>
          <a:lstStyle/>
          <a:p>
            <a:pPr indent="0" lvl="0" marL="57150" rtl="0" algn="just">
              <a:lnSpc>
                <a:spcPct val="100000"/>
              </a:lnSpc>
              <a:spcBef>
                <a:spcPts val="0"/>
              </a:spcBef>
              <a:spcAft>
                <a:spcPts val="0"/>
              </a:spcAft>
              <a:buNone/>
            </a:pPr>
            <a:r>
              <a:rPr lang="en-US" sz="2000"/>
              <a:t>       Predicting stock market prices has been a topic of great interest for economists, financial analysts, and investors for decades. The stock market's dynamic and volatile nature, influenced by a myriad of factors such as economic indicators, global events, and investor sentiment, makes accurate prediction a formidable challenge.The project involves collecting and preprocessing historical stock data, selecting relevant features, and applying various machine learning models to predict future stock prices. By evaluating the performance of these models using appropriate metrics, the goal is to develop a robust prediction system that can provide valuable insights into market trends.</a:t>
            </a:r>
            <a:endParaRPr sz="2000"/>
          </a:p>
        </p:txBody>
      </p:sp>
      <p:sp>
        <p:nvSpPr>
          <p:cNvPr id="120" name="Google Shape;120;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Literature Survey</a:t>
            </a:r>
            <a:endParaRPr/>
          </a:p>
        </p:txBody>
      </p:sp>
      <p:graphicFrame>
        <p:nvGraphicFramePr>
          <p:cNvPr id="126" name="Google Shape;126;p6"/>
          <p:cNvGraphicFramePr/>
          <p:nvPr/>
        </p:nvGraphicFramePr>
        <p:xfrm>
          <a:off x="609600" y="1417638"/>
          <a:ext cx="3000000" cy="3000000"/>
        </p:xfrm>
        <a:graphic>
          <a:graphicData uri="http://schemas.openxmlformats.org/drawingml/2006/table">
            <a:tbl>
              <a:tblPr bandRow="1" firstRow="1">
                <a:noFill/>
                <a:tableStyleId>{BD622D30-8837-4E6F-AFCE-A4D43F029BA6}</a:tableStyleId>
              </a:tblPr>
              <a:tblGrid>
                <a:gridCol w="457200"/>
                <a:gridCol w="3048000"/>
                <a:gridCol w="875200"/>
                <a:gridCol w="1410800"/>
                <a:gridCol w="2438400"/>
              </a:tblGrid>
              <a:tr h="559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S.No.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Title of the Paper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Year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Journal/Conference Name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Inferences</a:t>
                      </a:r>
                      <a:endParaRPr sz="1400" u="none" cap="none" strike="noStrike"/>
                    </a:p>
                  </a:txBody>
                  <a:tcPr marT="45725" marB="45725" marR="91450" marL="91450"/>
                </a:tc>
              </a:tr>
              <a:tr h="1099125">
                <a:tc>
                  <a:txBody>
                    <a:bodyPr/>
                    <a:lstStyle/>
                    <a:p>
                      <a:pPr indent="0" lvl="0" marL="0" marR="0" rtl="0" algn="l">
                        <a:lnSpc>
                          <a:spcPct val="100000"/>
                        </a:lnSpc>
                        <a:spcBef>
                          <a:spcPts val="0"/>
                        </a:spcBef>
                        <a:spcAft>
                          <a:spcPts val="0"/>
                        </a:spcAft>
                        <a:buClr>
                          <a:srgbClr val="000000"/>
                        </a:buClr>
                        <a:buSzPts val="1400"/>
                        <a:buFont typeface="Arial"/>
                        <a:buNone/>
                      </a:pPr>
                      <a:r>
                        <a:rPr lang="en-US"/>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Calibri"/>
                          <a:ea typeface="Calibri"/>
                          <a:cs typeface="Calibri"/>
                          <a:sym typeface="Calibri"/>
                        </a:rPr>
                        <a:t>Stock Price Prediction Using ARIMA: A Study on AAPL, MSFT, NFLX, and GOOGL Stocks</a:t>
                      </a:r>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2024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a:t>
                      </a:r>
                      <a:r>
                        <a:rPr b="0" i="0" lang="en-US" sz="1400" u="sng" cap="none" strike="noStrike">
                          <a:solidFill>
                            <a:schemeClr val="dk1"/>
                          </a:solidFill>
                          <a:latin typeface="Calibri"/>
                          <a:ea typeface="Calibri"/>
                          <a:cs typeface="Calibri"/>
                          <a:sym typeface="Calibri"/>
                          <a:hlinkClick r:id="rId3">
                            <a:extLst>
                              <a:ext uri="{A12FA001-AC4F-418D-AE19-62706E023703}">
                                <ahyp:hlinkClr val="tx"/>
                              </a:ext>
                            </a:extLst>
                          </a:hlinkClick>
                        </a:rPr>
                        <a:t>2024</a:t>
                      </a:r>
                      <a:r>
                        <a:rPr b="0" i="0" lang="en-US" sz="1400" u="sng" cap="none" strike="noStrike">
                          <a:solidFill>
                            <a:schemeClr val="dk1"/>
                          </a:solidFill>
                          <a:latin typeface="Calibri"/>
                          <a:ea typeface="Calibri"/>
                          <a:cs typeface="Calibri"/>
                          <a:sym typeface="Calibri"/>
                          <a:hlinkClick r:id="rId4">
                            <a:extLst>
                              <a:ext uri="{A12FA001-AC4F-418D-AE19-62706E023703}">
                                <ahyp:hlinkClr val="tx"/>
                              </a:ext>
                            </a:extLst>
                          </a:hlinkClick>
                        </a:rPr>
                        <a:t> </a:t>
                      </a:r>
                      <a:r>
                        <a:rPr b="0" i="0" lang="en-US" sz="1400" u="sng" cap="none" strike="noStrike">
                          <a:solidFill>
                            <a:schemeClr val="dk1"/>
                          </a:solidFill>
                          <a:latin typeface="Calibri"/>
                          <a:ea typeface="Calibri"/>
                          <a:cs typeface="Calibri"/>
                          <a:sym typeface="Calibri"/>
                          <a:hlinkClick r:id="rId5">
                            <a:extLst>
                              <a:ext uri="{A12FA001-AC4F-418D-AE19-62706E023703}">
                                <ahyp:hlinkClr val="tx"/>
                              </a:ext>
                            </a:extLst>
                          </a:hlinkClick>
                        </a:rPr>
                        <a:t>Computational Intelligence and Computing Applications (ICCICA)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ARMA</a:t>
                      </a:r>
                      <a:r>
                        <a:rPr lang="en-US" sz="1400" u="none" cap="none" strike="noStrike"/>
                        <a:t> methodology - </a:t>
                      </a:r>
                      <a:r>
                        <a:rPr b="0" i="0" lang="en-US" sz="1400" u="none" cap="none" strike="noStrike">
                          <a:solidFill>
                            <a:schemeClr val="dk1"/>
                          </a:solidFill>
                          <a:latin typeface="Calibri"/>
                          <a:ea typeface="Calibri"/>
                          <a:cs typeface="Calibri"/>
                          <a:sym typeface="Calibri"/>
                        </a:rPr>
                        <a:t>autoregressive–moving-average</a:t>
                      </a:r>
                      <a:endParaRPr sz="1400" u="none" cap="none" strike="noStrike"/>
                    </a:p>
                  </a:txBody>
                  <a:tcPr marT="45725" marB="45725" marR="91450" marL="91450"/>
                </a:tc>
              </a:tr>
              <a:tr h="1567875">
                <a:tc>
                  <a:txBody>
                    <a:bodyPr/>
                    <a:lstStyle/>
                    <a:p>
                      <a:pPr indent="0" lvl="0" marL="0" marR="0" rtl="0" algn="l">
                        <a:lnSpc>
                          <a:spcPct val="100000"/>
                        </a:lnSpc>
                        <a:spcBef>
                          <a:spcPts val="0"/>
                        </a:spcBef>
                        <a:spcAft>
                          <a:spcPts val="0"/>
                        </a:spcAft>
                        <a:buClr>
                          <a:srgbClr val="000000"/>
                        </a:buClr>
                        <a:buSzPts val="1400"/>
                        <a:buFont typeface="Arial"/>
                        <a:buNone/>
                      </a:pPr>
                      <a:r>
                        <a:rPr lang="en-US"/>
                        <a:t>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A Novel Integrated Approach for Stock Prediction Based on Modal Decomposition Technology and Machine Learning</a:t>
                      </a:r>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2024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a:t>
                      </a:r>
                      <a:r>
                        <a:rPr b="0" i="0" lang="en-US" sz="1400" u="sng" cap="none" strike="noStrike">
                          <a:solidFill>
                            <a:schemeClr val="dk1"/>
                          </a:solidFill>
                          <a:latin typeface="Calibri"/>
                          <a:ea typeface="Calibri"/>
                          <a:cs typeface="Calibri"/>
                          <a:sym typeface="Calibri"/>
                          <a:hlinkClick r:id="rId6">
                            <a:extLst>
                              <a:ext uri="{A12FA001-AC4F-418D-AE19-62706E023703}">
                                <ahyp:hlinkClr val="tx"/>
                              </a:ext>
                            </a:extLst>
                          </a:hlinkClick>
                        </a:rPr>
                        <a:t>IEEE Access</a:t>
                      </a:r>
                      <a:r>
                        <a:rPr b="0" i="0" lang="en-US" sz="1400" u="none" cap="none" strike="noStrike">
                          <a:solidFill>
                            <a:schemeClr val="dk1"/>
                          </a:solidFill>
                          <a:latin typeface="Calibri"/>
                          <a:ea typeface="Calibri"/>
                          <a:cs typeface="Calibri"/>
                          <a:sym typeface="Calibri"/>
                        </a:rPr>
                        <a:t> ( Volume: 12)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Complete Ensemble Empirical Mode Decomposition</a:t>
                      </a:r>
                      <a:endParaRPr sz="1400" u="none" cap="none" strike="noStrike"/>
                    </a:p>
                  </a:txBody>
                  <a:tcPr marT="45725" marB="45725" marR="91450" marL="91450"/>
                </a:tc>
              </a:tr>
            </a:tbl>
          </a:graphicData>
        </a:graphic>
      </p:graphicFrame>
      <p:sp>
        <p:nvSpPr>
          <p:cNvPr id="127" name="Google Shape;127;p6"/>
          <p:cNvSpPr txBox="1"/>
          <p:nvPr>
            <p:ph idx="11" type="ftr"/>
          </p:nvPr>
        </p:nvSpPr>
        <p:spPr>
          <a:xfrm>
            <a:off x="3124200" y="6400799"/>
            <a:ext cx="39624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457200" y="274638"/>
            <a:ext cx="8229600" cy="7159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Objective</a:t>
            </a:r>
            <a:endParaRPr/>
          </a:p>
        </p:txBody>
      </p:sp>
      <p:sp>
        <p:nvSpPr>
          <p:cNvPr id="133" name="Google Shape;133;p7"/>
          <p:cNvSpPr txBox="1"/>
          <p:nvPr>
            <p:ph idx="1" type="body"/>
          </p:nvPr>
        </p:nvSpPr>
        <p:spPr>
          <a:xfrm>
            <a:off x="299475" y="990600"/>
            <a:ext cx="8305800" cy="50292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000"/>
              <a:buNone/>
            </a:pPr>
            <a:r>
              <a:t/>
            </a:r>
            <a:endParaRPr sz="2000">
              <a:latin typeface="Times New Roman"/>
              <a:ea typeface="Times New Roman"/>
              <a:cs typeface="Times New Roman"/>
              <a:sym typeface="Times New Roman"/>
            </a:endParaRPr>
          </a:p>
          <a:p>
            <a:pPr indent="-215900" lvl="0" marL="342900" rtl="0" algn="just">
              <a:lnSpc>
                <a:spcPct val="100000"/>
              </a:lnSpc>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The primary objective of this machine learning project is to develop an accurate and reliable model for predicting stock market prices and trends. This involves collecting and preprocessing historical stock data, exploring and optimizing various machine learning algorithms, and rigorously evaluating the model's performance using key metrics. The ultimate goal is to create a robust predictive tool that can provide actionable insights for investors. The project also aims to implement a real-time prediction system with a user-friendly interface or API, ensuring continuous improvement by updating the model with new data to adapt to changing market conditions. Through these efforts, the project seeks to showcase the potential of machine learning in enhancing stock market prediction accuracy and supporting more informed investment decisions.</a:t>
            </a:r>
            <a:endParaRPr/>
          </a:p>
          <a:p>
            <a:pPr indent="0" lvl="0" marL="0" rtl="0" algn="just">
              <a:lnSpc>
                <a:spcPct val="100000"/>
              </a:lnSpc>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134" name="Google Shape;134;p7"/>
          <p:cNvSpPr txBox="1"/>
          <p:nvPr>
            <p:ph idx="11" type="ftr"/>
          </p:nvPr>
        </p:nvSpPr>
        <p:spPr>
          <a:xfrm>
            <a:off x="381000" y="6356351"/>
            <a:ext cx="8305800" cy="27304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Problem Statement</a:t>
            </a:r>
            <a:endParaRPr/>
          </a:p>
        </p:txBody>
      </p:sp>
      <p:sp>
        <p:nvSpPr>
          <p:cNvPr id="140" name="Google Shape;140;p8"/>
          <p:cNvSpPr txBox="1"/>
          <p:nvPr>
            <p:ph idx="1" type="body"/>
          </p:nvPr>
        </p:nvSpPr>
        <p:spPr>
          <a:xfrm>
            <a:off x="457200" y="2148704"/>
            <a:ext cx="8229600" cy="28632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None/>
            </a:pPr>
            <a:r>
              <a:rPr lang="en-US" sz="2000"/>
              <a:t>This project seeks to address the challenge of predicting stock market prices by leveraging machine learning techniques. The problem is to develop a model that can analyze historical stock data, including price movements, trading volumes, and relevant financial indicators, to forecast future stock prices with high accuracy. The model must be robust enough to handle the market's inherent volatility and adaptable to changes in market conditions. Additionally, the model should be user-friendly, providing real-time predictions and insights that can assist investors in making data-driven decisions.</a:t>
            </a:r>
            <a:endParaRPr/>
          </a:p>
          <a:p>
            <a:pPr indent="0" lvl="0" marL="0" rtl="0" algn="just">
              <a:lnSpc>
                <a:spcPct val="100000"/>
              </a:lnSpc>
              <a:spcBef>
                <a:spcPts val="400"/>
              </a:spcBef>
              <a:spcAft>
                <a:spcPts val="0"/>
              </a:spcAft>
              <a:buClr>
                <a:schemeClr val="dk1"/>
              </a:buClr>
              <a:buSzPts val="2000"/>
              <a:buNone/>
            </a:pPr>
            <a:r>
              <a:rPr lang="en-US" sz="2000"/>
              <a:t>     </a:t>
            </a:r>
            <a:endParaRPr sz="2000"/>
          </a:p>
        </p:txBody>
      </p:sp>
      <p:sp>
        <p:nvSpPr>
          <p:cNvPr id="141" name="Google Shape;14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Proposed Work</a:t>
            </a:r>
            <a:endParaRPr/>
          </a:p>
        </p:txBody>
      </p:sp>
      <p:sp>
        <p:nvSpPr>
          <p:cNvPr id="147" name="Google Shape;147;p9"/>
          <p:cNvSpPr txBox="1"/>
          <p:nvPr>
            <p:ph idx="1" type="body"/>
          </p:nvPr>
        </p:nvSpPr>
        <p:spPr>
          <a:xfrm>
            <a:off x="733550" y="1623950"/>
            <a:ext cx="7387500" cy="4526100"/>
          </a:xfrm>
          <a:prstGeom prst="rect">
            <a:avLst/>
          </a:prstGeom>
          <a:noFill/>
          <a:ln>
            <a:noFill/>
          </a:ln>
        </p:spPr>
        <p:txBody>
          <a:bodyPr anchorCtr="0" anchor="t" bIns="45700" lIns="91425" spcFirstLastPara="1" rIns="91425" wrap="square" tIns="45700">
            <a:normAutofit/>
          </a:bodyPr>
          <a:lstStyle/>
          <a:p>
            <a:pPr indent="0" lvl="0" marL="457200" rtl="0" algn="just">
              <a:lnSpc>
                <a:spcPct val="100000"/>
              </a:lnSpc>
              <a:spcBef>
                <a:spcPts val="400"/>
              </a:spcBef>
              <a:spcAft>
                <a:spcPts val="0"/>
              </a:spcAft>
              <a:buNone/>
            </a:pPr>
            <a:r>
              <a:t/>
            </a:r>
            <a:endParaRPr/>
          </a:p>
          <a:p>
            <a:pPr indent="0" lvl="0" marL="342900" rtl="0" algn="just">
              <a:lnSpc>
                <a:spcPct val="100000"/>
              </a:lnSpc>
              <a:spcBef>
                <a:spcPts val="400"/>
              </a:spcBef>
              <a:spcAft>
                <a:spcPts val="0"/>
              </a:spcAft>
              <a:buClr>
                <a:schemeClr val="dk1"/>
              </a:buClr>
              <a:buSzPts val="2000"/>
              <a:buNone/>
            </a:pPr>
            <a:r>
              <a:rPr lang="en-US" sz="2000"/>
              <a:t>We are using historical data, trading volumes and the relative economic </a:t>
            </a:r>
            <a:r>
              <a:rPr lang="en-US" sz="2000"/>
              <a:t>i</a:t>
            </a:r>
            <a:r>
              <a:rPr lang="en-US" sz="2000"/>
              <a:t>ndicators such as day to day news sentiment and social media trends. We are including Finance API’s and news websites for daily updates and understanding the trends now and then .Traders can enter their point of view about the stock market so that their input would help the new traders We are building a user friendly web application for the traders to analyze the stock pattern with efficient prediction values</a:t>
            </a:r>
            <a:endParaRPr sz="2000"/>
          </a:p>
          <a:p>
            <a:pPr indent="-215900" lvl="0" marL="342900" rtl="0" algn="just">
              <a:lnSpc>
                <a:spcPct val="100000"/>
              </a:lnSpc>
              <a:spcBef>
                <a:spcPts val="400"/>
              </a:spcBef>
              <a:spcAft>
                <a:spcPts val="0"/>
              </a:spcAft>
              <a:buClr>
                <a:schemeClr val="dk1"/>
              </a:buClr>
              <a:buSzPts val="2000"/>
              <a:buNone/>
            </a:pPr>
            <a:r>
              <a:t/>
            </a:r>
            <a:endParaRPr sz="2000"/>
          </a:p>
        </p:txBody>
      </p:sp>
      <p:sp>
        <p:nvSpPr>
          <p:cNvPr id="148" name="Google Shape;14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490654" y="262325"/>
            <a:ext cx="8229600" cy="1143000"/>
          </a:xfrm>
          <a:prstGeom prst="rect">
            <a:avLst/>
          </a:prstGeom>
          <a:noFill/>
          <a:ln>
            <a:noFill/>
          </a:ln>
        </p:spPr>
        <p:txBody>
          <a:bodyPr anchorCtr="0" anchor="ctr" bIns="45700" lIns="91425" spcFirstLastPara="1" rIns="91425" wrap="square" tIns="45700">
            <a:normAutofit/>
          </a:bodyPr>
          <a:lstStyle/>
          <a:p>
            <a:pPr indent="0" lvl="1" marL="0" rtl="0" algn="ctr">
              <a:lnSpc>
                <a:spcPct val="100000"/>
              </a:lnSpc>
              <a:spcBef>
                <a:spcPts val="0"/>
              </a:spcBef>
              <a:spcAft>
                <a:spcPts val="0"/>
              </a:spcAft>
              <a:buSzPts val="1400"/>
              <a:buNone/>
            </a:pPr>
            <a:r>
              <a:rPr lang="en-US" sz="4400">
                <a:solidFill>
                  <a:schemeClr val="dk1"/>
                </a:solidFill>
                <a:latin typeface="Calibri"/>
                <a:ea typeface="Calibri"/>
                <a:cs typeface="Calibri"/>
                <a:sym typeface="Calibri"/>
              </a:rPr>
              <a:t>Module Description</a:t>
            </a:r>
            <a:endParaRPr/>
          </a:p>
        </p:txBody>
      </p:sp>
      <p:sp>
        <p:nvSpPr>
          <p:cNvPr id="154" name="Google Shape;154;p10"/>
          <p:cNvSpPr txBox="1"/>
          <p:nvPr>
            <p:ph idx="1" type="body"/>
          </p:nvPr>
        </p:nvSpPr>
        <p:spPr>
          <a:xfrm>
            <a:off x="423746" y="1405325"/>
            <a:ext cx="8229600" cy="4648200"/>
          </a:xfrm>
          <a:prstGeom prst="rect">
            <a:avLst/>
          </a:prstGeom>
          <a:noFill/>
          <a:ln>
            <a:noFill/>
          </a:ln>
        </p:spPr>
        <p:txBody>
          <a:bodyPr anchorCtr="0" anchor="t" bIns="45700" lIns="91425" spcFirstLastPara="1" rIns="91425" wrap="square" tIns="45700">
            <a:normAutofit lnSpcReduction="10000"/>
          </a:bodyPr>
          <a:lstStyle/>
          <a:p>
            <a:pPr indent="-333375" lvl="0" marL="342900" rtl="0" algn="l">
              <a:lnSpc>
                <a:spcPct val="100000"/>
              </a:lnSpc>
              <a:spcBef>
                <a:spcPts val="0"/>
              </a:spcBef>
              <a:spcAft>
                <a:spcPts val="0"/>
              </a:spcAft>
              <a:buClr>
                <a:schemeClr val="dk1"/>
              </a:buClr>
              <a:buSzPts val="2000"/>
              <a:buChar char="•"/>
            </a:pPr>
            <a:r>
              <a:rPr lang="en-US" sz="2000"/>
              <a:t>We built a primary stock prediction model which basically helps in predicting future stock prices with the help of historical data. Using Linear regression and root mean squared values we are able to analyze the historical data to produce a predicted data and compare it with the training dataset.</a:t>
            </a:r>
            <a:endParaRPr/>
          </a:p>
          <a:p>
            <a:pPr indent="-215900" lvl="0" marL="342900" rtl="0" algn="l">
              <a:lnSpc>
                <a:spcPct val="100000"/>
              </a:lnSpc>
              <a:spcBef>
                <a:spcPts val="400"/>
              </a:spcBef>
              <a:spcAft>
                <a:spcPts val="0"/>
              </a:spcAft>
              <a:buClr>
                <a:schemeClr val="dk1"/>
              </a:buClr>
              <a:buSzPts val="2000"/>
              <a:buNone/>
            </a:pPr>
            <a:r>
              <a:t/>
            </a:r>
            <a:endParaRPr sz="2000"/>
          </a:p>
          <a:p>
            <a:pPr indent="-333375" lvl="0" marL="342900" rtl="0" algn="l">
              <a:lnSpc>
                <a:spcPct val="100000"/>
              </a:lnSpc>
              <a:spcBef>
                <a:spcPts val="400"/>
              </a:spcBef>
              <a:spcAft>
                <a:spcPts val="0"/>
              </a:spcAft>
              <a:buClr>
                <a:schemeClr val="dk1"/>
              </a:buClr>
              <a:buSzPts val="2000"/>
              <a:buChar char="•"/>
            </a:pPr>
            <a:r>
              <a:rPr lang="en-US" sz="2000"/>
              <a:t>Long Term Short Memory (LTSM) known as Recurrent neural network for learning long term dependencies . We used this algorithm to process and predict time-series data.</a:t>
            </a:r>
            <a:endParaRPr/>
          </a:p>
          <a:p>
            <a:pPr indent="-215900" lvl="0" marL="342900" rtl="0" algn="l">
              <a:lnSpc>
                <a:spcPct val="100000"/>
              </a:lnSpc>
              <a:spcBef>
                <a:spcPts val="400"/>
              </a:spcBef>
              <a:spcAft>
                <a:spcPts val="0"/>
              </a:spcAft>
              <a:buClr>
                <a:schemeClr val="dk1"/>
              </a:buClr>
              <a:buSzPts val="2000"/>
              <a:buNone/>
            </a:pPr>
            <a:r>
              <a:t/>
            </a:r>
            <a:endParaRPr sz="2000"/>
          </a:p>
          <a:p>
            <a:pPr indent="-333375" lvl="0" marL="342900" rtl="0" algn="l">
              <a:lnSpc>
                <a:spcPct val="100000"/>
              </a:lnSpc>
              <a:spcBef>
                <a:spcPts val="400"/>
              </a:spcBef>
              <a:spcAft>
                <a:spcPts val="0"/>
              </a:spcAft>
              <a:buClr>
                <a:schemeClr val="dk1"/>
              </a:buClr>
              <a:buSzPts val="2000"/>
              <a:buChar char="•"/>
            </a:pPr>
            <a:r>
              <a:rPr lang="en-US" sz="2000"/>
              <a:t>Data's are being cleaned and kept ready to make analysis and predictions with help of various data visualization toolkit libraries</a:t>
            </a:r>
            <a:endParaRPr/>
          </a:p>
          <a:p>
            <a:pPr indent="-278130" lvl="1" marL="742950" rtl="0" algn="l">
              <a:lnSpc>
                <a:spcPct val="100000"/>
              </a:lnSpc>
              <a:spcBef>
                <a:spcPts val="320"/>
              </a:spcBef>
              <a:spcAft>
                <a:spcPts val="0"/>
              </a:spcAft>
              <a:buClr>
                <a:schemeClr val="dk1"/>
              </a:buClr>
              <a:buSzPts val="1600"/>
              <a:buChar char="–"/>
            </a:pPr>
            <a:r>
              <a:rPr lang="en-US" sz="1600"/>
              <a:t>Scikit Learn</a:t>
            </a:r>
            <a:endParaRPr/>
          </a:p>
          <a:p>
            <a:pPr indent="-278130" lvl="1" marL="742950" rtl="0" algn="l">
              <a:lnSpc>
                <a:spcPct val="100000"/>
              </a:lnSpc>
              <a:spcBef>
                <a:spcPts val="320"/>
              </a:spcBef>
              <a:spcAft>
                <a:spcPts val="0"/>
              </a:spcAft>
              <a:buClr>
                <a:schemeClr val="dk1"/>
              </a:buClr>
              <a:buSzPts val="1600"/>
              <a:buChar char="–"/>
            </a:pPr>
            <a:r>
              <a:rPr lang="en-US" sz="1600"/>
              <a:t>Plotly</a:t>
            </a:r>
            <a:endParaRPr sz="1600"/>
          </a:p>
          <a:p>
            <a:pPr indent="-278130" lvl="1" marL="742950" rtl="0" algn="l">
              <a:lnSpc>
                <a:spcPct val="100000"/>
              </a:lnSpc>
              <a:spcBef>
                <a:spcPts val="320"/>
              </a:spcBef>
              <a:spcAft>
                <a:spcPts val="0"/>
              </a:spcAft>
              <a:buClr>
                <a:schemeClr val="dk1"/>
              </a:buClr>
              <a:buSzPts val="1600"/>
              <a:buChar char="–"/>
            </a:pPr>
            <a:r>
              <a:rPr lang="en-US" sz="1600"/>
              <a:t>Numpy, pandas and Matplotlib</a:t>
            </a:r>
            <a:endParaRPr/>
          </a:p>
          <a:p>
            <a:pPr indent="-184150" lvl="1" marL="742950" rtl="0" algn="l">
              <a:lnSpc>
                <a:spcPct val="100000"/>
              </a:lnSpc>
              <a:spcBef>
                <a:spcPts val="320"/>
              </a:spcBef>
              <a:spcAft>
                <a:spcPts val="0"/>
              </a:spcAft>
              <a:buClr>
                <a:schemeClr val="dk1"/>
              </a:buClr>
              <a:buSzPts val="1600"/>
              <a:buNone/>
            </a:pPr>
            <a:r>
              <a:t/>
            </a:r>
            <a:endParaRPr sz="1600"/>
          </a:p>
          <a:p>
            <a:pPr indent="0" lvl="1" marL="457200" rtl="0" algn="l">
              <a:lnSpc>
                <a:spcPct val="100000"/>
              </a:lnSpc>
              <a:spcBef>
                <a:spcPts val="320"/>
              </a:spcBef>
              <a:spcAft>
                <a:spcPts val="0"/>
              </a:spcAft>
              <a:buClr>
                <a:schemeClr val="dk1"/>
              </a:buClr>
              <a:buSzPts val="1600"/>
              <a:buNone/>
            </a:pPr>
            <a:r>
              <a:t/>
            </a:r>
            <a:endParaRPr sz="1600"/>
          </a:p>
          <a:p>
            <a:pPr indent="0" lvl="1" marL="457200" rtl="0" algn="l">
              <a:lnSpc>
                <a:spcPct val="100000"/>
              </a:lnSpc>
              <a:spcBef>
                <a:spcPts val="320"/>
              </a:spcBef>
              <a:spcAft>
                <a:spcPts val="0"/>
              </a:spcAft>
              <a:buClr>
                <a:schemeClr val="dk1"/>
              </a:buClr>
              <a:buSzPts val="1600"/>
              <a:buNone/>
            </a:pPr>
            <a:r>
              <a:t/>
            </a:r>
            <a:endParaRPr sz="1600"/>
          </a:p>
        </p:txBody>
      </p:sp>
      <p:sp>
        <p:nvSpPr>
          <p:cNvPr id="155" name="Google Shape;15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Software &amp; Hardware Requirements</a:t>
            </a:r>
            <a:endParaRPr/>
          </a:p>
        </p:txBody>
      </p:sp>
      <p:sp>
        <p:nvSpPr>
          <p:cNvPr id="161" name="Google Shape;161;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lnSpc>
                <a:spcPct val="100000"/>
              </a:lnSpc>
              <a:spcBef>
                <a:spcPts val="0"/>
              </a:spcBef>
              <a:spcAft>
                <a:spcPts val="0"/>
              </a:spcAft>
              <a:buClr>
                <a:schemeClr val="dk1"/>
              </a:buClr>
              <a:buSzPct val="100000"/>
              <a:buChar char="•"/>
            </a:pPr>
            <a:r>
              <a:rPr b="1" lang="en-US"/>
              <a:t>Software Requirements:</a:t>
            </a:r>
            <a:endParaRPr/>
          </a:p>
          <a:p>
            <a:pPr indent="-246380" lvl="0" marL="342900" rtl="0" algn="l">
              <a:lnSpc>
                <a:spcPct val="100000"/>
              </a:lnSpc>
              <a:spcBef>
                <a:spcPts val="304"/>
              </a:spcBef>
              <a:spcAft>
                <a:spcPts val="0"/>
              </a:spcAft>
              <a:buClr>
                <a:schemeClr val="dk1"/>
              </a:buClr>
              <a:buSzPct val="100000"/>
              <a:buNone/>
            </a:pPr>
            <a:r>
              <a:t/>
            </a:r>
            <a:endParaRPr b="1"/>
          </a:p>
          <a:p>
            <a:pPr indent="-342900" lvl="0" marL="342900" rtl="0" algn="l">
              <a:lnSpc>
                <a:spcPct val="100000"/>
              </a:lnSpc>
              <a:spcBef>
                <a:spcPts val="304"/>
              </a:spcBef>
              <a:spcAft>
                <a:spcPts val="0"/>
              </a:spcAft>
              <a:buClr>
                <a:schemeClr val="dk1"/>
              </a:buClr>
              <a:buSzPct val="100000"/>
              <a:buFont typeface="Calibri"/>
              <a:buAutoNum type="arabicPeriod"/>
            </a:pPr>
            <a:r>
              <a:rPr b="1" lang="en-US"/>
              <a:t>Programming Language:</a:t>
            </a:r>
            <a:endParaRPr/>
          </a:p>
          <a:p>
            <a:pPr indent="-285750" lvl="1" marL="742950" rtl="0" algn="l">
              <a:lnSpc>
                <a:spcPct val="100000"/>
              </a:lnSpc>
              <a:spcBef>
                <a:spcPts val="266"/>
              </a:spcBef>
              <a:spcAft>
                <a:spcPts val="0"/>
              </a:spcAft>
              <a:buClr>
                <a:schemeClr val="dk1"/>
              </a:buClr>
              <a:buSzPct val="100000"/>
              <a:buFont typeface="Calibri"/>
              <a:buAutoNum type="arabicPeriod"/>
            </a:pPr>
            <a:r>
              <a:rPr lang="en-US"/>
              <a:t>Python (version 3.7 or higher)</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Libraries and Frameworks:</a:t>
            </a:r>
            <a:endParaRPr/>
          </a:p>
          <a:p>
            <a:pPr indent="-285750" lvl="1" marL="742950" rtl="0" algn="l">
              <a:lnSpc>
                <a:spcPct val="100000"/>
              </a:lnSpc>
              <a:spcBef>
                <a:spcPts val="266"/>
              </a:spcBef>
              <a:spcAft>
                <a:spcPts val="0"/>
              </a:spcAft>
              <a:buClr>
                <a:schemeClr val="dk1"/>
              </a:buClr>
              <a:buSzPct val="100000"/>
              <a:buFont typeface="Calibri"/>
              <a:buAutoNum type="arabicPeriod"/>
            </a:pPr>
            <a:r>
              <a:rPr b="1" lang="en-US"/>
              <a:t>NumPy:</a:t>
            </a:r>
            <a:r>
              <a:rPr lang="en-US"/>
              <a:t> For numerical computations.</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Development Environment:</a:t>
            </a:r>
            <a:endParaRPr/>
          </a:p>
          <a:p>
            <a:pPr indent="-285750" lvl="1" marL="742950" rtl="0" algn="l">
              <a:lnSpc>
                <a:spcPct val="100000"/>
              </a:lnSpc>
              <a:spcBef>
                <a:spcPts val="266"/>
              </a:spcBef>
              <a:spcAft>
                <a:spcPts val="0"/>
              </a:spcAft>
              <a:buClr>
                <a:schemeClr val="dk1"/>
              </a:buClr>
              <a:buSzPct val="100000"/>
              <a:buFont typeface="Calibri"/>
              <a:buAutoNum type="arabicPeriod"/>
            </a:pPr>
            <a:r>
              <a:rPr lang="en-US"/>
              <a:t>Jupyter Notebook, PyCharm, VS Code, or any other Python IDE.</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Database:</a:t>
            </a:r>
            <a:endParaRPr/>
          </a:p>
          <a:p>
            <a:pPr indent="-285750" lvl="1" marL="742950" rtl="0" algn="l">
              <a:lnSpc>
                <a:spcPct val="100000"/>
              </a:lnSpc>
              <a:spcBef>
                <a:spcPts val="266"/>
              </a:spcBef>
              <a:spcAft>
                <a:spcPts val="0"/>
              </a:spcAft>
              <a:buClr>
                <a:schemeClr val="dk1"/>
              </a:buClr>
              <a:buSzPct val="100000"/>
              <a:buFont typeface="Calibri"/>
              <a:buAutoNum type="arabicPeriod"/>
            </a:pPr>
            <a:r>
              <a:rPr lang="en-US"/>
              <a:t>SQLite, MySQL, or any other database management system for storing and retrieving data (optional, based on project needs).</a:t>
            </a:r>
            <a:endParaRPr/>
          </a:p>
          <a:p>
            <a:pPr indent="-246380" lvl="0" marL="342900" rtl="0" algn="l">
              <a:lnSpc>
                <a:spcPct val="100000"/>
              </a:lnSpc>
              <a:spcBef>
                <a:spcPts val="304"/>
              </a:spcBef>
              <a:spcAft>
                <a:spcPts val="0"/>
              </a:spcAft>
              <a:buClr>
                <a:schemeClr val="dk1"/>
              </a:buClr>
              <a:buSzPct val="100000"/>
              <a:buNone/>
            </a:pPr>
            <a:r>
              <a:t/>
            </a:r>
            <a:endParaRPr b="1"/>
          </a:p>
          <a:p>
            <a:pPr indent="-342900" lvl="0" marL="342900" rtl="0" algn="l">
              <a:lnSpc>
                <a:spcPct val="100000"/>
              </a:lnSpc>
              <a:spcBef>
                <a:spcPts val="304"/>
              </a:spcBef>
              <a:spcAft>
                <a:spcPts val="0"/>
              </a:spcAft>
              <a:buClr>
                <a:schemeClr val="dk1"/>
              </a:buClr>
              <a:buSzPct val="100000"/>
              <a:buChar char="•"/>
            </a:pPr>
            <a:r>
              <a:rPr b="1" lang="en-US"/>
              <a:t>Hardware Requirements:</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Processor:</a:t>
            </a:r>
            <a:endParaRPr/>
          </a:p>
          <a:p>
            <a:pPr indent="-285750" lvl="1" marL="742950" rtl="0" algn="l">
              <a:lnSpc>
                <a:spcPct val="100000"/>
              </a:lnSpc>
              <a:spcBef>
                <a:spcPts val="266"/>
              </a:spcBef>
              <a:spcAft>
                <a:spcPts val="0"/>
              </a:spcAft>
              <a:buClr>
                <a:schemeClr val="dk1"/>
              </a:buClr>
              <a:buSzPct val="100000"/>
              <a:buFont typeface="Calibri"/>
              <a:buAutoNum type="arabicPeriod" startAt="2"/>
            </a:pPr>
            <a:r>
              <a:rPr lang="en-US"/>
              <a:t>Intel Core i5/i7 or AMD Ryzen 5/7 (Quad-core or higher)</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Memory (RAM):</a:t>
            </a:r>
            <a:endParaRPr/>
          </a:p>
          <a:p>
            <a:pPr indent="-285750" lvl="1" marL="742950" rtl="0" algn="l">
              <a:lnSpc>
                <a:spcPct val="100000"/>
              </a:lnSpc>
              <a:spcBef>
                <a:spcPts val="266"/>
              </a:spcBef>
              <a:spcAft>
                <a:spcPts val="0"/>
              </a:spcAft>
              <a:buClr>
                <a:schemeClr val="dk1"/>
              </a:buClr>
              <a:buSzPct val="100000"/>
              <a:buFont typeface="Calibri"/>
              <a:buAutoNum type="arabicPeriod" startAt="2"/>
            </a:pPr>
            <a:r>
              <a:rPr lang="en-US"/>
              <a:t>Minimum: 8 GB</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Graphics Processing Unit (GPU):</a:t>
            </a:r>
            <a:endParaRPr/>
          </a:p>
          <a:p>
            <a:pPr indent="-285750" lvl="1" marL="742950" rtl="0" algn="l">
              <a:lnSpc>
                <a:spcPct val="100000"/>
              </a:lnSpc>
              <a:spcBef>
                <a:spcPts val="266"/>
              </a:spcBef>
              <a:spcAft>
                <a:spcPts val="0"/>
              </a:spcAft>
              <a:buClr>
                <a:schemeClr val="dk1"/>
              </a:buClr>
              <a:buSzPct val="100000"/>
              <a:buFont typeface="Calibri"/>
              <a:buAutoNum type="arabicPeriod" startAt="2"/>
            </a:pPr>
            <a:r>
              <a:rPr lang="en-US"/>
              <a:t>Optional: NVIDIA GPU with CUDA support (e.g., GTX 1060 or higher) for training deep learning models.</a:t>
            </a:r>
            <a:endParaRPr/>
          </a:p>
          <a:p>
            <a:pPr indent="-306705" lvl="0" marL="342900" rtl="0" algn="l">
              <a:lnSpc>
                <a:spcPct val="100000"/>
              </a:lnSpc>
              <a:spcBef>
                <a:spcPts val="114"/>
              </a:spcBef>
              <a:spcAft>
                <a:spcPts val="0"/>
              </a:spcAft>
              <a:buClr>
                <a:schemeClr val="dk1"/>
              </a:buClr>
              <a:buSzPct val="100000"/>
              <a:buNone/>
            </a:pPr>
            <a:r>
              <a:t/>
            </a:r>
            <a:endParaRPr sz="1200"/>
          </a:p>
        </p:txBody>
      </p:sp>
      <p:sp>
        <p:nvSpPr>
          <p:cNvPr id="162" name="Google Shape;16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MODULE 1 Implementation</a:t>
            </a:r>
            <a:endParaRPr/>
          </a:p>
        </p:txBody>
      </p:sp>
      <p:pic>
        <p:nvPicPr>
          <p:cNvPr id="168" name="Google Shape;168;p12"/>
          <p:cNvPicPr preferRelativeResize="0"/>
          <p:nvPr>
            <p:ph idx="1" type="body"/>
          </p:nvPr>
        </p:nvPicPr>
        <p:blipFill rotWithShape="1">
          <a:blip r:embed="rId3">
            <a:alphaModFix/>
          </a:blip>
          <a:srcRect b="0" l="0" r="0" t="0"/>
          <a:stretch/>
        </p:blipFill>
        <p:spPr>
          <a:xfrm>
            <a:off x="216883" y="1446449"/>
            <a:ext cx="3886200" cy="4940085"/>
          </a:xfrm>
          <a:prstGeom prst="rect">
            <a:avLst/>
          </a:prstGeom>
          <a:noFill/>
          <a:ln>
            <a:noFill/>
          </a:ln>
        </p:spPr>
      </p:pic>
      <p:sp>
        <p:nvSpPr>
          <p:cNvPr id="169" name="Google Shape;169;p12"/>
          <p:cNvSpPr txBox="1"/>
          <p:nvPr>
            <p:ph idx="11" type="ftr"/>
          </p:nvPr>
        </p:nvSpPr>
        <p:spPr>
          <a:xfrm>
            <a:off x="2895600" y="6458462"/>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pic>
        <p:nvPicPr>
          <p:cNvPr id="170" name="Google Shape;170;p12"/>
          <p:cNvPicPr preferRelativeResize="0"/>
          <p:nvPr/>
        </p:nvPicPr>
        <p:blipFill rotWithShape="1">
          <a:blip r:embed="rId4">
            <a:alphaModFix/>
          </a:blip>
          <a:srcRect b="0" l="0" r="0" t="0"/>
          <a:stretch/>
        </p:blipFill>
        <p:spPr>
          <a:xfrm>
            <a:off x="4237330" y="1752600"/>
            <a:ext cx="4709452" cy="421690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MODULE 1 Implementation</a:t>
            </a:r>
            <a:endParaRPr/>
          </a:p>
        </p:txBody>
      </p:sp>
      <p:sp>
        <p:nvSpPr>
          <p:cNvPr id="176" name="Google Shape;17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pic>
        <p:nvPicPr>
          <p:cNvPr id="177" name="Google Shape;177;p13"/>
          <p:cNvPicPr preferRelativeResize="0"/>
          <p:nvPr/>
        </p:nvPicPr>
        <p:blipFill rotWithShape="1">
          <a:blip r:embed="rId3">
            <a:alphaModFix/>
          </a:blip>
          <a:srcRect b="0" l="0" r="0" t="0"/>
          <a:stretch/>
        </p:blipFill>
        <p:spPr>
          <a:xfrm>
            <a:off x="914400" y="1458547"/>
            <a:ext cx="7239000" cy="46220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Module 1 Results</a:t>
            </a:r>
            <a:endParaRPr/>
          </a:p>
        </p:txBody>
      </p:sp>
      <p:sp>
        <p:nvSpPr>
          <p:cNvPr id="183" name="Google Shape;183;p14"/>
          <p:cNvSpPr txBox="1"/>
          <p:nvPr>
            <p:ph idx="11" type="ftr"/>
          </p:nvPr>
        </p:nvSpPr>
        <p:spPr>
          <a:xfrm>
            <a:off x="3124200" y="6356350"/>
            <a:ext cx="39624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pic>
        <p:nvPicPr>
          <p:cNvPr id="184" name="Google Shape;184;p14"/>
          <p:cNvPicPr preferRelativeResize="0"/>
          <p:nvPr/>
        </p:nvPicPr>
        <p:blipFill rotWithShape="1">
          <a:blip r:embed="rId3">
            <a:alphaModFix/>
          </a:blip>
          <a:srcRect b="0" l="0" r="0" t="0"/>
          <a:stretch/>
        </p:blipFill>
        <p:spPr>
          <a:xfrm>
            <a:off x="1509285" y="1524000"/>
            <a:ext cx="6125430" cy="449642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Module 1 Results</a:t>
            </a:r>
            <a:endParaRPr/>
          </a:p>
        </p:txBody>
      </p:sp>
      <p:sp>
        <p:nvSpPr>
          <p:cNvPr id="190" name="Google Shape;190;p15"/>
          <p:cNvSpPr txBox="1"/>
          <p:nvPr>
            <p:ph idx="11" type="ftr"/>
          </p:nvPr>
        </p:nvSpPr>
        <p:spPr>
          <a:xfrm>
            <a:off x="3124200" y="6356350"/>
            <a:ext cx="39624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pic>
        <p:nvPicPr>
          <p:cNvPr id="191" name="Google Shape;191;p15"/>
          <p:cNvPicPr preferRelativeResize="0"/>
          <p:nvPr/>
        </p:nvPicPr>
        <p:blipFill rotWithShape="1">
          <a:blip r:embed="rId3">
            <a:alphaModFix/>
          </a:blip>
          <a:srcRect b="0" l="0" r="0" t="0"/>
          <a:stretch/>
        </p:blipFill>
        <p:spPr>
          <a:xfrm>
            <a:off x="0" y="1523740"/>
            <a:ext cx="9144000" cy="2134119"/>
          </a:xfrm>
          <a:prstGeom prst="rect">
            <a:avLst/>
          </a:prstGeom>
          <a:noFill/>
          <a:ln>
            <a:noFill/>
          </a:ln>
        </p:spPr>
      </p:pic>
      <p:pic>
        <p:nvPicPr>
          <p:cNvPr id="192" name="Google Shape;192;p15"/>
          <p:cNvPicPr preferRelativeResize="0"/>
          <p:nvPr/>
        </p:nvPicPr>
        <p:blipFill rotWithShape="1">
          <a:blip r:embed="rId4">
            <a:alphaModFix/>
          </a:blip>
          <a:srcRect b="0" l="0" r="0" t="0"/>
          <a:stretch/>
        </p:blipFill>
        <p:spPr>
          <a:xfrm>
            <a:off x="0" y="4191000"/>
            <a:ext cx="9144000" cy="19351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2f9fc3e4f7f_1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Final Module</a:t>
            </a:r>
            <a:endParaRPr/>
          </a:p>
        </p:txBody>
      </p:sp>
      <p:pic>
        <p:nvPicPr>
          <p:cNvPr id="199" name="Google Shape;199;g2f9fc3e4f7f_1_0" title="image_2024-09-25_070223729.png"/>
          <p:cNvPicPr preferRelativeResize="0"/>
          <p:nvPr/>
        </p:nvPicPr>
        <p:blipFill>
          <a:blip r:embed="rId3">
            <a:alphaModFix/>
          </a:blip>
          <a:stretch>
            <a:fillRect/>
          </a:stretch>
        </p:blipFill>
        <p:spPr>
          <a:xfrm>
            <a:off x="141225" y="1864125"/>
            <a:ext cx="4430776" cy="2851350"/>
          </a:xfrm>
          <a:prstGeom prst="rect">
            <a:avLst/>
          </a:prstGeom>
          <a:noFill/>
          <a:ln>
            <a:noFill/>
          </a:ln>
        </p:spPr>
      </p:pic>
      <p:pic>
        <p:nvPicPr>
          <p:cNvPr id="200" name="Google Shape;200;g2f9fc3e4f7f_1_0" title="image_2024-09-25_070232225.png"/>
          <p:cNvPicPr preferRelativeResize="0"/>
          <p:nvPr/>
        </p:nvPicPr>
        <p:blipFill>
          <a:blip r:embed="rId4">
            <a:alphaModFix/>
          </a:blip>
          <a:stretch>
            <a:fillRect/>
          </a:stretch>
        </p:blipFill>
        <p:spPr>
          <a:xfrm>
            <a:off x="4834850" y="1932825"/>
            <a:ext cx="3851949" cy="2619575"/>
          </a:xfrm>
          <a:prstGeom prst="rect">
            <a:avLst/>
          </a:prstGeom>
          <a:noFill/>
          <a:ln>
            <a:noFill/>
          </a:ln>
        </p:spPr>
      </p:pic>
      <p:sp>
        <p:nvSpPr>
          <p:cNvPr id="201" name="Google Shape;201;g2f9fc3e4f7f_1_0"/>
          <p:cNvSpPr txBox="1"/>
          <p:nvPr/>
        </p:nvSpPr>
        <p:spPr>
          <a:xfrm>
            <a:off x="4834850" y="5067575"/>
            <a:ext cx="4252800" cy="8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dk1"/>
                </a:solidFill>
                <a:latin typeface="Calibri"/>
                <a:ea typeface="Calibri"/>
                <a:cs typeface="Calibri"/>
                <a:sym typeface="Calibri"/>
              </a:rPr>
              <a:t> JP MORGAN PREDICTION</a:t>
            </a:r>
            <a:endParaRPr sz="3000">
              <a:solidFill>
                <a:schemeClr val="dk1"/>
              </a:solidFill>
              <a:latin typeface="Calibri"/>
              <a:ea typeface="Calibri"/>
              <a:cs typeface="Calibri"/>
              <a:sym typeface="Calibri"/>
            </a:endParaRPr>
          </a:p>
        </p:txBody>
      </p:sp>
      <p:sp>
        <p:nvSpPr>
          <p:cNvPr id="202" name="Google Shape;202;g2f9fc3e4f7f_1_0"/>
          <p:cNvSpPr txBox="1"/>
          <p:nvPr/>
        </p:nvSpPr>
        <p:spPr>
          <a:xfrm>
            <a:off x="285175" y="5072375"/>
            <a:ext cx="4355400" cy="8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 AMAZON PREDICTION</a:t>
            </a:r>
            <a:endParaRPr sz="3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2f9fc3e4f7f_1_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Final Module</a:t>
            </a:r>
            <a:endParaRPr/>
          </a:p>
        </p:txBody>
      </p:sp>
      <p:pic>
        <p:nvPicPr>
          <p:cNvPr id="209" name="Google Shape;209;g2f9fc3e4f7f_1_8" title="image_2024-09-25_070241461.png"/>
          <p:cNvPicPr preferRelativeResize="0"/>
          <p:nvPr/>
        </p:nvPicPr>
        <p:blipFill>
          <a:blip r:embed="rId3">
            <a:alphaModFix/>
          </a:blip>
          <a:stretch>
            <a:fillRect/>
          </a:stretch>
        </p:blipFill>
        <p:spPr>
          <a:xfrm>
            <a:off x="196250" y="2146075"/>
            <a:ext cx="4315841" cy="2509155"/>
          </a:xfrm>
          <a:prstGeom prst="rect">
            <a:avLst/>
          </a:prstGeom>
          <a:noFill/>
          <a:ln>
            <a:noFill/>
          </a:ln>
        </p:spPr>
      </p:pic>
      <p:pic>
        <p:nvPicPr>
          <p:cNvPr id="210" name="Google Shape;210;g2f9fc3e4f7f_1_8" title="image_2024-09-25_070251456.png"/>
          <p:cNvPicPr preferRelativeResize="0"/>
          <p:nvPr/>
        </p:nvPicPr>
        <p:blipFill>
          <a:blip r:embed="rId4">
            <a:alphaModFix/>
          </a:blip>
          <a:stretch>
            <a:fillRect/>
          </a:stretch>
        </p:blipFill>
        <p:spPr>
          <a:xfrm>
            <a:off x="4616260" y="2146070"/>
            <a:ext cx="4315841" cy="2509155"/>
          </a:xfrm>
          <a:prstGeom prst="rect">
            <a:avLst/>
          </a:prstGeom>
          <a:noFill/>
          <a:ln>
            <a:noFill/>
          </a:ln>
        </p:spPr>
      </p:pic>
      <p:sp>
        <p:nvSpPr>
          <p:cNvPr id="211" name="Google Shape;211;g2f9fc3e4f7f_1_8"/>
          <p:cNvSpPr txBox="1"/>
          <p:nvPr/>
        </p:nvSpPr>
        <p:spPr>
          <a:xfrm>
            <a:off x="794700" y="5072375"/>
            <a:ext cx="3777300" cy="8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 META PREDICTION</a:t>
            </a:r>
            <a:endParaRPr sz="3200">
              <a:solidFill>
                <a:schemeClr val="dk1"/>
              </a:solidFill>
              <a:latin typeface="Calibri"/>
              <a:ea typeface="Calibri"/>
              <a:cs typeface="Calibri"/>
              <a:sym typeface="Calibri"/>
            </a:endParaRPr>
          </a:p>
        </p:txBody>
      </p:sp>
      <p:sp>
        <p:nvSpPr>
          <p:cNvPr id="212" name="Google Shape;212;g2f9fc3e4f7f_1_8"/>
          <p:cNvSpPr txBox="1"/>
          <p:nvPr/>
        </p:nvSpPr>
        <p:spPr>
          <a:xfrm>
            <a:off x="5038350" y="5072375"/>
            <a:ext cx="3777300" cy="8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 TESLA PREDICTION</a:t>
            </a:r>
            <a:endParaRPr sz="3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ph type="title"/>
          </p:nvPr>
        </p:nvSpPr>
        <p:spPr>
          <a:xfrm>
            <a:off x="500500" y="123113"/>
            <a:ext cx="8229600" cy="7161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References</a:t>
            </a:r>
            <a:endParaRPr/>
          </a:p>
        </p:txBody>
      </p:sp>
      <p:sp>
        <p:nvSpPr>
          <p:cNvPr id="218" name="Google Shape;218;p16"/>
          <p:cNvSpPr txBox="1"/>
          <p:nvPr>
            <p:ph idx="1" type="body"/>
          </p:nvPr>
        </p:nvSpPr>
        <p:spPr>
          <a:xfrm>
            <a:off x="342900" y="1088025"/>
            <a:ext cx="8458200" cy="5365800"/>
          </a:xfrm>
          <a:prstGeom prst="rect">
            <a:avLst/>
          </a:prstGeom>
          <a:noFill/>
          <a:ln>
            <a:noFill/>
          </a:ln>
        </p:spPr>
        <p:txBody>
          <a:bodyPr anchorCtr="0" anchor="t" bIns="45700" lIns="91425" spcFirstLastPara="1" rIns="91425" wrap="square" tIns="45700">
            <a:noAutofit/>
          </a:bodyPr>
          <a:lstStyle/>
          <a:p>
            <a:pPr indent="0" lvl="0" marL="0" rtl="0" algn="just">
              <a:lnSpc>
                <a:spcPct val="107916"/>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[1] A. L. Awad, S. M. Elkaffas, and M. W. Fakhr, ‘‘Stock market prediction using deep reinforcement learning,’’ Appl. Syst. Innov., vol. 6, no. 6, p. 106, Nov. 2023.</a:t>
            </a:r>
            <a:endParaRPr sz="1200">
              <a:latin typeface="Times New Roman"/>
              <a:ea typeface="Times New Roman"/>
              <a:cs typeface="Times New Roman"/>
              <a:sym typeface="Times New Roman"/>
            </a:endParaRPr>
          </a:p>
          <a:p>
            <a:pPr indent="0" lvl="0" marL="0" rtl="0" algn="just">
              <a:lnSpc>
                <a:spcPct val="107916"/>
              </a:lnSpc>
              <a:spcBef>
                <a:spcPts val="800"/>
              </a:spcBef>
              <a:spcAft>
                <a:spcPts val="0"/>
              </a:spcAft>
              <a:buClr>
                <a:schemeClr val="dk1"/>
              </a:buClr>
              <a:buSzPts val="1100"/>
              <a:buFont typeface="Arial"/>
              <a:buNone/>
            </a:pPr>
            <a:r>
              <a:rPr lang="en-US" sz="1200">
                <a:latin typeface="Times New Roman"/>
                <a:ea typeface="Times New Roman"/>
                <a:cs typeface="Times New Roman"/>
                <a:sym typeface="Times New Roman"/>
              </a:rPr>
              <a:t>[2] Yu Sun, Sofianita Mutalib, Nasiroh Omar and Liwei Tain, “ A Novel Integrated Approach for Stock Prediction Based on Modal Decomposition Technology and Machine Learning, vol 12, pp.95209, July 2024.</a:t>
            </a:r>
            <a:endParaRPr sz="1200">
              <a:latin typeface="Times New Roman"/>
              <a:ea typeface="Times New Roman"/>
              <a:cs typeface="Times New Roman"/>
              <a:sym typeface="Times New Roman"/>
            </a:endParaRPr>
          </a:p>
          <a:p>
            <a:pPr indent="0" lvl="0" marL="0" rtl="0" algn="just">
              <a:lnSpc>
                <a:spcPct val="107916"/>
              </a:lnSpc>
              <a:spcBef>
                <a:spcPts val="800"/>
              </a:spcBef>
              <a:spcAft>
                <a:spcPts val="0"/>
              </a:spcAft>
              <a:buClr>
                <a:schemeClr val="dk1"/>
              </a:buClr>
              <a:buSzPts val="1100"/>
              <a:buFont typeface="Arial"/>
              <a:buNone/>
            </a:pPr>
            <a:r>
              <a:rPr lang="en-US" sz="1200">
                <a:latin typeface="Times New Roman"/>
                <a:ea typeface="Times New Roman"/>
                <a:cs typeface="Times New Roman"/>
                <a:sym typeface="Times New Roman"/>
              </a:rPr>
              <a:t>[3] J. Duan and X. Xu, “Stock Price Trend Prediction using MRCM-CNN,” 2020 Chinese Automation Congress (CAC).2020. doi: 10.1109/cac51589.2020.9326600.</a:t>
            </a:r>
            <a:endParaRPr sz="1200">
              <a:latin typeface="Times New Roman"/>
              <a:ea typeface="Times New Roman"/>
              <a:cs typeface="Times New Roman"/>
              <a:sym typeface="Times New Roman"/>
            </a:endParaRPr>
          </a:p>
          <a:p>
            <a:pPr indent="0" lvl="0" marL="0" rtl="0" algn="just">
              <a:lnSpc>
                <a:spcPct val="107916"/>
              </a:lnSpc>
              <a:spcBef>
                <a:spcPts val="800"/>
              </a:spcBef>
              <a:spcAft>
                <a:spcPts val="0"/>
              </a:spcAft>
              <a:buClr>
                <a:schemeClr val="dk1"/>
              </a:buClr>
              <a:buSzPts val="1100"/>
              <a:buFont typeface="Arial"/>
              <a:buNone/>
            </a:pPr>
            <a:r>
              <a:rPr lang="en-US" sz="1200">
                <a:latin typeface="Times New Roman"/>
                <a:ea typeface="Times New Roman"/>
                <a:cs typeface="Times New Roman"/>
                <a:sym typeface="Times New Roman"/>
              </a:rPr>
              <a:t>[4] W. Lertyingyod and N. Benjamas, “Stock price trend prediction using Artificial Neural Network techniques: Case study: Thailand    stock exchange,”(ICSEC).2016.doi icsec.2016.7859878.</a:t>
            </a:r>
            <a:endParaRPr sz="1200">
              <a:latin typeface="Times New Roman"/>
              <a:ea typeface="Times New Roman"/>
              <a:cs typeface="Times New Roman"/>
              <a:sym typeface="Times New Roman"/>
            </a:endParaRPr>
          </a:p>
          <a:p>
            <a:pPr indent="0" lvl="0" marL="0" rtl="0" algn="just">
              <a:lnSpc>
                <a:spcPct val="107916"/>
              </a:lnSpc>
              <a:spcBef>
                <a:spcPts val="800"/>
              </a:spcBef>
              <a:spcAft>
                <a:spcPts val="0"/>
              </a:spcAft>
              <a:buClr>
                <a:schemeClr val="dk1"/>
              </a:buClr>
              <a:buSzPts val="1100"/>
              <a:buFont typeface="Arial"/>
              <a:buNone/>
            </a:pPr>
            <a:r>
              <a:rPr lang="en-US" sz="1200">
                <a:latin typeface="Times New Roman"/>
                <a:ea typeface="Times New Roman"/>
                <a:cs typeface="Times New Roman"/>
                <a:sym typeface="Times New Roman"/>
              </a:rPr>
              <a:t>[5] A. Durgapal and V. Vimal, "Prediction of Stock Price Using Statistical and Ensemble Learning Models: A Comparative Study," in 2021 IEEE 8th Uttar Pradesh Section International Conference on Electrical, Electronics and Computer Engineering (UPCON), 2021, pp. 1-6.</a:t>
            </a:r>
            <a:endParaRPr sz="1200">
              <a:latin typeface="Times New Roman"/>
              <a:ea typeface="Times New Roman"/>
              <a:cs typeface="Times New Roman"/>
              <a:sym typeface="Times New Roman"/>
            </a:endParaRPr>
          </a:p>
          <a:p>
            <a:pPr indent="0" lvl="0" marL="0" rtl="0" algn="just">
              <a:lnSpc>
                <a:spcPct val="107916"/>
              </a:lnSpc>
              <a:spcBef>
                <a:spcPts val="800"/>
              </a:spcBef>
              <a:spcAft>
                <a:spcPts val="0"/>
              </a:spcAft>
              <a:buClr>
                <a:schemeClr val="dk1"/>
              </a:buClr>
              <a:buSzPts val="1100"/>
              <a:buFont typeface="Arial"/>
              <a:buNone/>
            </a:pPr>
            <a:r>
              <a:rPr lang="en-US" sz="1200">
                <a:latin typeface="Times New Roman"/>
                <a:ea typeface="Times New Roman"/>
                <a:cs typeface="Times New Roman"/>
                <a:sym typeface="Times New Roman"/>
              </a:rPr>
              <a:t>[6] R. Sharma, V. Kukreja, and S. Vats, "A New Dawn for Tomato-spotted Wilt virus Detection and Intensity Classification: A CNN and LSTM Ensemble Model," in Proc. 4th Int. Conf. Emerg. Technol. (INCET), 2023, pp. 1-6.</a:t>
            </a:r>
            <a:endParaRPr sz="1200">
              <a:latin typeface="Times New Roman"/>
              <a:ea typeface="Times New Roman"/>
              <a:cs typeface="Times New Roman"/>
              <a:sym typeface="Times New Roman"/>
            </a:endParaRPr>
          </a:p>
          <a:p>
            <a:pPr indent="0" lvl="0" marL="0" rtl="0" algn="just">
              <a:lnSpc>
                <a:spcPct val="107916"/>
              </a:lnSpc>
              <a:spcBef>
                <a:spcPts val="800"/>
              </a:spcBef>
              <a:spcAft>
                <a:spcPts val="0"/>
              </a:spcAft>
              <a:buClr>
                <a:schemeClr val="dk1"/>
              </a:buClr>
              <a:buSzPts val="1100"/>
              <a:buFont typeface="Arial"/>
              <a:buNone/>
            </a:pPr>
            <a:r>
              <a:rPr lang="en-US" sz="1200">
                <a:latin typeface="Times New Roman"/>
                <a:ea typeface="Times New Roman"/>
                <a:cs typeface="Times New Roman"/>
                <a:sym typeface="Times New Roman"/>
              </a:rPr>
              <a:t>[7] S. Mehta, V. Kukreja and S. Vats, "Advancing Agricultural Practices: Federated Learning-based CNN for Mango Leaf Disease Detection,"2023 3rd International Conference on Intelligent Technologies (CONIT), Hubli, India, 2023, pp. 1-6.</a:t>
            </a:r>
            <a:endParaRPr sz="1200">
              <a:latin typeface="Times New Roman"/>
              <a:ea typeface="Times New Roman"/>
              <a:cs typeface="Times New Roman"/>
              <a:sym typeface="Times New Roman"/>
            </a:endParaRPr>
          </a:p>
          <a:p>
            <a:pPr indent="0" lvl="0" marL="0" rtl="0" algn="just">
              <a:lnSpc>
                <a:spcPct val="107916"/>
              </a:lnSpc>
              <a:spcBef>
                <a:spcPts val="800"/>
              </a:spcBef>
              <a:spcAft>
                <a:spcPts val="0"/>
              </a:spcAft>
              <a:buClr>
                <a:schemeClr val="dk1"/>
              </a:buClr>
              <a:buSzPts val="1100"/>
              <a:buFont typeface="Arial"/>
              <a:buNone/>
            </a:pPr>
            <a:r>
              <a:rPr lang="en-US" sz="1200">
                <a:latin typeface="Times New Roman"/>
                <a:ea typeface="Times New Roman"/>
                <a:cs typeface="Times New Roman"/>
                <a:sym typeface="Times New Roman"/>
              </a:rPr>
              <a:t>[8]V. Kukreja, R. Sharma, and S. Vats, "Sustainable Fabric Recycling using Hybrid CNN-LSTM Multi-Classification Model," in Proc. 2nd Int. Conf. Edge Comput. Appl. (ICECAA), 2023, pp. 415-420.</a:t>
            </a:r>
            <a:endParaRPr sz="1200">
              <a:latin typeface="Times New Roman"/>
              <a:ea typeface="Times New Roman"/>
              <a:cs typeface="Times New Roman"/>
              <a:sym typeface="Times New Roman"/>
            </a:endParaRPr>
          </a:p>
          <a:p>
            <a:pPr indent="0" lvl="0" marL="0" rtl="0" algn="just">
              <a:lnSpc>
                <a:spcPct val="107916"/>
              </a:lnSpc>
              <a:spcBef>
                <a:spcPts val="800"/>
              </a:spcBef>
              <a:spcAft>
                <a:spcPts val="0"/>
              </a:spcAft>
              <a:buClr>
                <a:schemeClr val="dk1"/>
              </a:buClr>
              <a:buSzPts val="1100"/>
              <a:buFont typeface="Arial"/>
              <a:buNone/>
            </a:pPr>
            <a:r>
              <a:rPr lang="en-US" sz="1200">
                <a:latin typeface="Times New Roman"/>
                <a:ea typeface="Times New Roman"/>
                <a:cs typeface="Times New Roman"/>
                <a:sym typeface="Times New Roman"/>
              </a:rPr>
              <a:t>[9] S. Mehta, V. Kukreja and R. Gupta, "Empowering Precision Agriculture: Detecting Apple Leaf Diseases and Severity Levels with Federated Learning CNN," 2023 3rd International Conference on Intelligent Technologies (CONIT), Hubli, India, 2023, pp. 1-6.</a:t>
            </a:r>
            <a:endParaRPr sz="1200">
              <a:latin typeface="Times New Roman"/>
              <a:ea typeface="Times New Roman"/>
              <a:cs typeface="Times New Roman"/>
              <a:sym typeface="Times New Roman"/>
            </a:endParaRPr>
          </a:p>
          <a:p>
            <a:pPr indent="0" lvl="0" marL="0" rtl="0" algn="just">
              <a:lnSpc>
                <a:spcPct val="107916"/>
              </a:lnSpc>
              <a:spcBef>
                <a:spcPts val="800"/>
              </a:spcBef>
              <a:spcAft>
                <a:spcPts val="0"/>
              </a:spcAft>
              <a:buClr>
                <a:schemeClr val="dk1"/>
              </a:buClr>
              <a:buSzPts val="1100"/>
              <a:buFont typeface="Arial"/>
              <a:buNone/>
            </a:pPr>
            <a:r>
              <a:rPr lang="en-US" sz="1200">
                <a:latin typeface="Times New Roman"/>
                <a:ea typeface="Times New Roman"/>
                <a:cs typeface="Times New Roman"/>
                <a:sym typeface="Times New Roman"/>
              </a:rPr>
              <a:t>[10] V. Kukreja, R. Sharma, and S. Vats, "Revolutionizing Rice Farming: Automated Identification and Classification of Rice Leaf Blight Disease Using Deep Learning," in Proc. 3rd Int. Conf. Secure Cyber Comput. Commun. (ICSCCC), 2023, pp. 586-591.</a:t>
            </a:r>
            <a:endParaRPr sz="1200">
              <a:latin typeface="Times New Roman"/>
              <a:ea typeface="Times New Roman"/>
              <a:cs typeface="Times New Roman"/>
              <a:sym typeface="Times New Roman"/>
            </a:endParaRPr>
          </a:p>
          <a:p>
            <a:pPr indent="0" lvl="0" marL="0" rtl="0" algn="l">
              <a:lnSpc>
                <a:spcPct val="100000"/>
              </a:lnSpc>
              <a:spcBef>
                <a:spcPts val="800"/>
              </a:spcBef>
              <a:spcAft>
                <a:spcPts val="0"/>
              </a:spcAft>
              <a:buClr>
                <a:srgbClr val="333333"/>
              </a:buClr>
              <a:buSzPts val="1800"/>
              <a:buNone/>
            </a:pPr>
            <a:r>
              <a:t/>
            </a:r>
            <a:endParaRPr sz="2000">
              <a:latin typeface="Times New Roman"/>
              <a:ea typeface="Times New Roman"/>
              <a:cs typeface="Times New Roman"/>
              <a:sym typeface="Times New Roman"/>
            </a:endParaRPr>
          </a:p>
          <a:p>
            <a:pPr indent="0" lvl="0" marL="0" rtl="0" algn="l">
              <a:lnSpc>
                <a:spcPct val="100000"/>
              </a:lnSpc>
              <a:spcBef>
                <a:spcPts val="360"/>
              </a:spcBef>
              <a:spcAft>
                <a:spcPts val="0"/>
              </a:spcAft>
              <a:buClr>
                <a:schemeClr val="dk1"/>
              </a:buClr>
              <a:buSzPts val="1800"/>
              <a:buNone/>
            </a:pPr>
            <a:r>
              <a:t/>
            </a:r>
            <a:endParaRPr sz="1800">
              <a:solidFill>
                <a:srgbClr val="006699"/>
              </a:solidFill>
              <a:highlight>
                <a:srgbClr val="FFFFFF"/>
              </a:highlight>
              <a:latin typeface="Helvetica Neue"/>
              <a:ea typeface="Helvetica Neue"/>
              <a:cs typeface="Helvetica Neue"/>
              <a:sym typeface="Helvetica Neue"/>
            </a:endParaRPr>
          </a:p>
        </p:txBody>
      </p:sp>
      <p:sp>
        <p:nvSpPr>
          <p:cNvPr id="219" name="Google Shape;219;p16"/>
          <p:cNvSpPr txBox="1"/>
          <p:nvPr>
            <p:ph idx="11" type="ftr"/>
          </p:nvPr>
        </p:nvSpPr>
        <p:spPr>
          <a:xfrm>
            <a:off x="762000" y="6529526"/>
            <a:ext cx="7620000" cy="27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7"/>
          <p:cNvSpPr txBox="1"/>
          <p:nvPr>
            <p:ph idx="1" type="body"/>
          </p:nvPr>
        </p:nvSpPr>
        <p:spPr>
          <a:xfrm>
            <a:off x="457200" y="1523025"/>
            <a:ext cx="8229600" cy="4907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2000"/>
              <a:t>The outcome of a stock prediction model can include predicted future stock prices, the direction of price movement (up or down), or actionable recommendations such as buy, sell, or hold. Depending on the model's complexity, it might provide a specific price forecast, classify the direction of movement, or offer probabilistic ranges, helping investors make informed decisions based on expected market trends.The final outcome would be a user friendly web application for the traders to predict the stock values and analyze the day to day news and social trends and alter the predicted scores using their own social data.This algorithm predicts 70% of the stock value precisely and the other 30% is decided by the knowledge and experience of the trader using the web application. </a:t>
            </a:r>
            <a:endParaRPr/>
          </a:p>
        </p:txBody>
      </p:sp>
      <p:sp>
        <p:nvSpPr>
          <p:cNvPr id="225" name="Google Shape;225;p17"/>
          <p:cNvSpPr txBox="1"/>
          <p:nvPr>
            <p:ph type="title"/>
          </p:nvPr>
        </p:nvSpPr>
        <p:spPr>
          <a:xfrm>
            <a:off x="457200" y="274638"/>
            <a:ext cx="8229600" cy="7159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Outcome</a:t>
            </a:r>
            <a:endParaRPr/>
          </a:p>
        </p:txBody>
      </p:sp>
      <p:sp>
        <p:nvSpPr>
          <p:cNvPr id="226" name="Google Shape;226;p17"/>
          <p:cNvSpPr txBox="1"/>
          <p:nvPr>
            <p:ph idx="11" type="ftr"/>
          </p:nvPr>
        </p:nvSpPr>
        <p:spPr>
          <a:xfrm>
            <a:off x="914400" y="6356351"/>
            <a:ext cx="7696200" cy="27304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2023-07-26T03:49:14Z</dcterms:created>
  <dc:creator>DELL</dc:creator>
</cp:coreProperties>
</file>